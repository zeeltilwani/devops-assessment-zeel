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3E6EF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3E6EF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3E6EF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3E6EF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648" y="265277"/>
            <a:ext cx="5601970" cy="882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3E6EF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419" y="1574164"/>
            <a:ext cx="3867150" cy="275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419" y="1448574"/>
            <a:ext cx="5781040" cy="6121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3255" algn="l"/>
                <a:tab pos="3108325" algn="l"/>
              </a:tabLst>
            </a:pPr>
            <a:r>
              <a:rPr dirty="0" sz="3850" spc="-10"/>
              <a:t>DevOps</a:t>
            </a:r>
            <a:r>
              <a:rPr dirty="0" sz="3850"/>
              <a:t>	</a:t>
            </a:r>
            <a:r>
              <a:rPr dirty="0" sz="3850" spc="-10"/>
              <a:t>Final</a:t>
            </a:r>
            <a:r>
              <a:rPr dirty="0" sz="3850"/>
              <a:t>	</a:t>
            </a:r>
            <a:r>
              <a:rPr dirty="0" sz="3850" spc="-10"/>
              <a:t>Assessment</a:t>
            </a:r>
            <a:endParaRPr sz="3850"/>
          </a:p>
        </p:txBody>
      </p:sp>
      <p:sp>
        <p:nvSpPr>
          <p:cNvPr id="3" name="object 3" descr=""/>
          <p:cNvSpPr txBox="1"/>
          <p:nvPr/>
        </p:nvSpPr>
        <p:spPr>
          <a:xfrm>
            <a:off x="483419" y="2279942"/>
            <a:ext cx="633984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666666"/>
                </a:solidFill>
                <a:latin typeface="Arial"/>
                <a:cs typeface="Arial"/>
              </a:rPr>
              <a:t>End-to-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End</a:t>
            </a:r>
            <a:r>
              <a:rPr dirty="0" sz="110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DevOps</a:t>
            </a:r>
            <a:r>
              <a:rPr dirty="0" sz="11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Project</a:t>
            </a:r>
            <a:r>
              <a:rPr dirty="0" sz="11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using</a:t>
            </a:r>
            <a:r>
              <a:rPr dirty="0" sz="11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Docker,</a:t>
            </a:r>
            <a:r>
              <a:rPr dirty="0" sz="110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Kubernetes,</a:t>
            </a:r>
            <a:r>
              <a:rPr dirty="0" sz="11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Helm,</a:t>
            </a:r>
            <a:r>
              <a:rPr dirty="0" sz="11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Monitoring,</a:t>
            </a:r>
            <a:r>
              <a:rPr dirty="0" sz="110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66666"/>
                </a:solidFill>
                <a:latin typeface="Arial"/>
                <a:cs typeface="Arial"/>
              </a:rPr>
              <a:t>Logging,</a:t>
            </a:r>
            <a:r>
              <a:rPr dirty="0" sz="11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Terraform</a:t>
            </a:r>
            <a:r>
              <a:rPr dirty="0" sz="11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&amp;</a:t>
            </a:r>
            <a:r>
              <a:rPr dirty="0" sz="11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66666"/>
                </a:solidFill>
                <a:latin typeface="Arial"/>
                <a:cs typeface="Arial"/>
              </a:rPr>
              <a:t>CI/CD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spc="-10" b="1">
                <a:solidFill>
                  <a:srgbClr val="666666"/>
                </a:solidFill>
                <a:latin typeface="Arial"/>
                <a:cs typeface="Arial"/>
              </a:rPr>
              <a:t>Presented</a:t>
            </a:r>
            <a:r>
              <a:rPr dirty="0" sz="1100" spc="-25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666666"/>
                </a:solidFill>
                <a:latin typeface="Arial"/>
                <a:cs typeface="Arial"/>
              </a:rPr>
              <a:t>By:</a:t>
            </a:r>
            <a:r>
              <a:rPr dirty="0" sz="1100" spc="-20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Zeel</a:t>
            </a:r>
            <a:r>
              <a:rPr dirty="0" sz="11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Assan</a:t>
            </a:r>
            <a:r>
              <a:rPr dirty="0" sz="11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66666"/>
                </a:solidFill>
                <a:latin typeface="Arial"/>
                <a:cs typeface="Arial"/>
              </a:rPr>
              <a:t>Tilwani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96119" y="3068167"/>
            <a:ext cx="528955" cy="266700"/>
            <a:chOff x="496119" y="3068167"/>
            <a:chExt cx="528955" cy="266700"/>
          </a:xfrm>
        </p:grpSpPr>
        <p:sp>
          <p:nvSpPr>
            <p:cNvPr id="5" name="object 5" descr=""/>
            <p:cNvSpPr/>
            <p:nvPr/>
          </p:nvSpPr>
          <p:spPr>
            <a:xfrm>
              <a:off x="496119" y="3068167"/>
              <a:ext cx="528955" cy="266700"/>
            </a:xfrm>
            <a:custGeom>
              <a:avLst/>
              <a:gdLst/>
              <a:ahLst/>
              <a:cxnLst/>
              <a:rect l="l" t="t" r="r" b="b"/>
              <a:pathLst>
                <a:path w="528955" h="266700">
                  <a:moveTo>
                    <a:pt x="426341" y="0"/>
                  </a:moveTo>
                  <a:lnTo>
                    <a:pt x="102071" y="0"/>
                  </a:lnTo>
                  <a:lnTo>
                    <a:pt x="62500" y="8074"/>
                  </a:lnTo>
                  <a:lnTo>
                    <a:pt x="30037" y="30037"/>
                  </a:lnTo>
                  <a:lnTo>
                    <a:pt x="8074" y="62498"/>
                  </a:lnTo>
                  <a:lnTo>
                    <a:pt x="0" y="102069"/>
                  </a:lnTo>
                  <a:lnTo>
                    <a:pt x="0" y="164325"/>
                  </a:lnTo>
                  <a:lnTo>
                    <a:pt x="8074" y="203898"/>
                  </a:lnTo>
                  <a:lnTo>
                    <a:pt x="30037" y="236364"/>
                  </a:lnTo>
                  <a:lnTo>
                    <a:pt x="62500" y="258331"/>
                  </a:lnTo>
                  <a:lnTo>
                    <a:pt x="102071" y="266407"/>
                  </a:lnTo>
                  <a:lnTo>
                    <a:pt x="426341" y="266407"/>
                  </a:lnTo>
                  <a:lnTo>
                    <a:pt x="465913" y="258331"/>
                  </a:lnTo>
                  <a:lnTo>
                    <a:pt x="498376" y="236364"/>
                  </a:lnTo>
                  <a:lnTo>
                    <a:pt x="520339" y="203898"/>
                  </a:lnTo>
                  <a:lnTo>
                    <a:pt x="528413" y="164325"/>
                  </a:lnTo>
                  <a:lnTo>
                    <a:pt x="528413" y="102069"/>
                  </a:lnTo>
                  <a:lnTo>
                    <a:pt x="520339" y="62498"/>
                  </a:lnTo>
                  <a:lnTo>
                    <a:pt x="498376" y="30037"/>
                  </a:lnTo>
                  <a:lnTo>
                    <a:pt x="465913" y="8074"/>
                  </a:lnTo>
                  <a:lnTo>
                    <a:pt x="426341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173" y="3144659"/>
              <a:ext cx="113406" cy="113411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738583" y="3095675"/>
            <a:ext cx="205104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666666"/>
                </a:solidFill>
                <a:latin typeface="Arial"/>
                <a:cs typeface="Arial"/>
              </a:rPr>
              <a:t>GIT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095375" y="3068167"/>
            <a:ext cx="759460" cy="266700"/>
            <a:chOff x="1095375" y="3068167"/>
            <a:chExt cx="759460" cy="266700"/>
          </a:xfrm>
        </p:grpSpPr>
        <p:sp>
          <p:nvSpPr>
            <p:cNvPr id="9" name="object 9" descr=""/>
            <p:cNvSpPr/>
            <p:nvPr/>
          </p:nvSpPr>
          <p:spPr>
            <a:xfrm>
              <a:off x="1095375" y="3068167"/>
              <a:ext cx="759460" cy="266700"/>
            </a:xfrm>
            <a:custGeom>
              <a:avLst/>
              <a:gdLst/>
              <a:ahLst/>
              <a:cxnLst/>
              <a:rect l="l" t="t" r="r" b="b"/>
              <a:pathLst>
                <a:path w="759460" h="266700">
                  <a:moveTo>
                    <a:pt x="657324" y="0"/>
                  </a:moveTo>
                  <a:lnTo>
                    <a:pt x="102071" y="0"/>
                  </a:lnTo>
                  <a:lnTo>
                    <a:pt x="62500" y="8074"/>
                  </a:lnTo>
                  <a:lnTo>
                    <a:pt x="30037" y="30037"/>
                  </a:lnTo>
                  <a:lnTo>
                    <a:pt x="8074" y="62498"/>
                  </a:lnTo>
                  <a:lnTo>
                    <a:pt x="0" y="102069"/>
                  </a:lnTo>
                  <a:lnTo>
                    <a:pt x="0" y="164325"/>
                  </a:lnTo>
                  <a:lnTo>
                    <a:pt x="8074" y="203898"/>
                  </a:lnTo>
                  <a:lnTo>
                    <a:pt x="30037" y="236364"/>
                  </a:lnTo>
                  <a:lnTo>
                    <a:pt x="62500" y="258331"/>
                  </a:lnTo>
                  <a:lnTo>
                    <a:pt x="102071" y="266407"/>
                  </a:lnTo>
                  <a:lnTo>
                    <a:pt x="657324" y="266407"/>
                  </a:lnTo>
                  <a:lnTo>
                    <a:pt x="696895" y="258331"/>
                  </a:lnTo>
                  <a:lnTo>
                    <a:pt x="729358" y="236364"/>
                  </a:lnTo>
                  <a:lnTo>
                    <a:pt x="751321" y="203898"/>
                  </a:lnTo>
                  <a:lnTo>
                    <a:pt x="759396" y="164325"/>
                  </a:lnTo>
                  <a:lnTo>
                    <a:pt x="759396" y="102069"/>
                  </a:lnTo>
                  <a:lnTo>
                    <a:pt x="751321" y="62498"/>
                  </a:lnTo>
                  <a:lnTo>
                    <a:pt x="729358" y="30037"/>
                  </a:lnTo>
                  <a:lnTo>
                    <a:pt x="696895" y="8074"/>
                  </a:lnTo>
                  <a:lnTo>
                    <a:pt x="657324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0429" y="3144659"/>
              <a:ext cx="113406" cy="113411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337843" y="3095675"/>
            <a:ext cx="43307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666666"/>
                </a:solidFill>
                <a:latin typeface="Arial"/>
                <a:cs typeface="Arial"/>
              </a:rPr>
              <a:t>GITHUB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925612" y="3068167"/>
            <a:ext cx="777875" cy="266700"/>
            <a:chOff x="1925612" y="3068167"/>
            <a:chExt cx="777875" cy="266700"/>
          </a:xfrm>
        </p:grpSpPr>
        <p:sp>
          <p:nvSpPr>
            <p:cNvPr id="13" name="object 13" descr=""/>
            <p:cNvSpPr/>
            <p:nvPr/>
          </p:nvSpPr>
          <p:spPr>
            <a:xfrm>
              <a:off x="1925612" y="3068167"/>
              <a:ext cx="777875" cy="266700"/>
            </a:xfrm>
            <a:custGeom>
              <a:avLst/>
              <a:gdLst/>
              <a:ahLst/>
              <a:cxnLst/>
              <a:rect l="l" t="t" r="r" b="b"/>
              <a:pathLst>
                <a:path w="777875" h="266700">
                  <a:moveTo>
                    <a:pt x="675331" y="0"/>
                  </a:moveTo>
                  <a:lnTo>
                    <a:pt x="102071" y="0"/>
                  </a:lnTo>
                  <a:lnTo>
                    <a:pt x="62500" y="8074"/>
                  </a:lnTo>
                  <a:lnTo>
                    <a:pt x="30037" y="30037"/>
                  </a:lnTo>
                  <a:lnTo>
                    <a:pt x="8074" y="62498"/>
                  </a:lnTo>
                  <a:lnTo>
                    <a:pt x="0" y="102069"/>
                  </a:lnTo>
                  <a:lnTo>
                    <a:pt x="0" y="164325"/>
                  </a:lnTo>
                  <a:lnTo>
                    <a:pt x="8074" y="203898"/>
                  </a:lnTo>
                  <a:lnTo>
                    <a:pt x="30037" y="236364"/>
                  </a:lnTo>
                  <a:lnTo>
                    <a:pt x="62500" y="258331"/>
                  </a:lnTo>
                  <a:lnTo>
                    <a:pt x="102071" y="266407"/>
                  </a:lnTo>
                  <a:lnTo>
                    <a:pt x="675331" y="266407"/>
                  </a:lnTo>
                  <a:lnTo>
                    <a:pt x="714903" y="258331"/>
                  </a:lnTo>
                  <a:lnTo>
                    <a:pt x="747365" y="236364"/>
                  </a:lnTo>
                  <a:lnTo>
                    <a:pt x="769329" y="203898"/>
                  </a:lnTo>
                  <a:lnTo>
                    <a:pt x="777403" y="164325"/>
                  </a:lnTo>
                  <a:lnTo>
                    <a:pt x="777403" y="102069"/>
                  </a:lnTo>
                  <a:lnTo>
                    <a:pt x="769329" y="62498"/>
                  </a:lnTo>
                  <a:lnTo>
                    <a:pt x="747365" y="30037"/>
                  </a:lnTo>
                  <a:lnTo>
                    <a:pt x="714903" y="8074"/>
                  </a:lnTo>
                  <a:lnTo>
                    <a:pt x="675331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0664" y="3144659"/>
              <a:ext cx="113406" cy="113411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2168080" y="3095675"/>
            <a:ext cx="48768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666666"/>
                </a:solidFill>
                <a:latin typeface="Arial"/>
                <a:cs typeface="Arial"/>
              </a:rPr>
              <a:t>DOCKER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773857" y="3068167"/>
            <a:ext cx="1044575" cy="266700"/>
            <a:chOff x="2773857" y="3068167"/>
            <a:chExt cx="1044575" cy="266700"/>
          </a:xfrm>
        </p:grpSpPr>
        <p:sp>
          <p:nvSpPr>
            <p:cNvPr id="17" name="object 17" descr=""/>
            <p:cNvSpPr/>
            <p:nvPr/>
          </p:nvSpPr>
          <p:spPr>
            <a:xfrm>
              <a:off x="2773857" y="3068167"/>
              <a:ext cx="1044575" cy="266700"/>
            </a:xfrm>
            <a:custGeom>
              <a:avLst/>
              <a:gdLst/>
              <a:ahLst/>
              <a:cxnLst/>
              <a:rect l="l" t="t" r="r" b="b"/>
              <a:pathLst>
                <a:path w="1044575" h="266700">
                  <a:moveTo>
                    <a:pt x="942403" y="0"/>
                  </a:moveTo>
                  <a:lnTo>
                    <a:pt x="102071" y="0"/>
                  </a:lnTo>
                  <a:lnTo>
                    <a:pt x="62500" y="8074"/>
                  </a:lnTo>
                  <a:lnTo>
                    <a:pt x="30037" y="30037"/>
                  </a:lnTo>
                  <a:lnTo>
                    <a:pt x="8074" y="62498"/>
                  </a:lnTo>
                  <a:lnTo>
                    <a:pt x="0" y="102069"/>
                  </a:lnTo>
                  <a:lnTo>
                    <a:pt x="0" y="164325"/>
                  </a:lnTo>
                  <a:lnTo>
                    <a:pt x="8074" y="203898"/>
                  </a:lnTo>
                  <a:lnTo>
                    <a:pt x="30037" y="236364"/>
                  </a:lnTo>
                  <a:lnTo>
                    <a:pt x="62500" y="258331"/>
                  </a:lnTo>
                  <a:lnTo>
                    <a:pt x="102071" y="266407"/>
                  </a:lnTo>
                  <a:lnTo>
                    <a:pt x="942403" y="266407"/>
                  </a:lnTo>
                  <a:lnTo>
                    <a:pt x="981975" y="258331"/>
                  </a:lnTo>
                  <a:lnTo>
                    <a:pt x="1014438" y="236364"/>
                  </a:lnTo>
                  <a:lnTo>
                    <a:pt x="1036401" y="203898"/>
                  </a:lnTo>
                  <a:lnTo>
                    <a:pt x="1044475" y="164325"/>
                  </a:lnTo>
                  <a:lnTo>
                    <a:pt x="1044475" y="102069"/>
                  </a:lnTo>
                  <a:lnTo>
                    <a:pt x="1036401" y="62498"/>
                  </a:lnTo>
                  <a:lnTo>
                    <a:pt x="1014438" y="30037"/>
                  </a:lnTo>
                  <a:lnTo>
                    <a:pt x="981975" y="8074"/>
                  </a:lnTo>
                  <a:lnTo>
                    <a:pt x="942403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58909" y="3144659"/>
              <a:ext cx="113406" cy="113411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3016326" y="3095675"/>
            <a:ext cx="75628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666666"/>
                </a:solidFill>
                <a:latin typeface="Arial"/>
                <a:cs typeface="Arial"/>
              </a:rPr>
              <a:t>KUBERNETES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889171" y="3068167"/>
            <a:ext cx="635635" cy="266700"/>
            <a:chOff x="3889171" y="3068167"/>
            <a:chExt cx="635635" cy="266700"/>
          </a:xfrm>
        </p:grpSpPr>
        <p:sp>
          <p:nvSpPr>
            <p:cNvPr id="21" name="object 21" descr=""/>
            <p:cNvSpPr/>
            <p:nvPr/>
          </p:nvSpPr>
          <p:spPr>
            <a:xfrm>
              <a:off x="3889171" y="3068167"/>
              <a:ext cx="635635" cy="266700"/>
            </a:xfrm>
            <a:custGeom>
              <a:avLst/>
              <a:gdLst/>
              <a:ahLst/>
              <a:cxnLst/>
              <a:rect l="l" t="t" r="r" b="b"/>
              <a:pathLst>
                <a:path w="635635" h="266700">
                  <a:moveTo>
                    <a:pt x="533200" y="0"/>
                  </a:moveTo>
                  <a:lnTo>
                    <a:pt x="102071" y="0"/>
                  </a:lnTo>
                  <a:lnTo>
                    <a:pt x="62500" y="8074"/>
                  </a:lnTo>
                  <a:lnTo>
                    <a:pt x="30037" y="30037"/>
                  </a:lnTo>
                  <a:lnTo>
                    <a:pt x="8074" y="62498"/>
                  </a:lnTo>
                  <a:lnTo>
                    <a:pt x="0" y="102069"/>
                  </a:lnTo>
                  <a:lnTo>
                    <a:pt x="0" y="164325"/>
                  </a:lnTo>
                  <a:lnTo>
                    <a:pt x="8074" y="203898"/>
                  </a:lnTo>
                  <a:lnTo>
                    <a:pt x="30037" y="236364"/>
                  </a:lnTo>
                  <a:lnTo>
                    <a:pt x="62500" y="258331"/>
                  </a:lnTo>
                  <a:lnTo>
                    <a:pt x="102071" y="266407"/>
                  </a:lnTo>
                  <a:lnTo>
                    <a:pt x="533200" y="266407"/>
                  </a:lnTo>
                  <a:lnTo>
                    <a:pt x="572772" y="258331"/>
                  </a:lnTo>
                  <a:lnTo>
                    <a:pt x="605235" y="236364"/>
                  </a:lnTo>
                  <a:lnTo>
                    <a:pt x="627198" y="203898"/>
                  </a:lnTo>
                  <a:lnTo>
                    <a:pt x="635273" y="164325"/>
                  </a:lnTo>
                  <a:lnTo>
                    <a:pt x="635273" y="102069"/>
                  </a:lnTo>
                  <a:lnTo>
                    <a:pt x="627198" y="62498"/>
                  </a:lnTo>
                  <a:lnTo>
                    <a:pt x="605235" y="30037"/>
                  </a:lnTo>
                  <a:lnTo>
                    <a:pt x="572772" y="8074"/>
                  </a:lnTo>
                  <a:lnTo>
                    <a:pt x="533200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74236" y="3144659"/>
              <a:ext cx="113406" cy="113411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4131640" y="3095675"/>
            <a:ext cx="3257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>
                <a:solidFill>
                  <a:srgbClr val="666666"/>
                </a:solidFill>
                <a:latin typeface="Arial"/>
                <a:cs typeface="Arial"/>
              </a:rPr>
              <a:t>HELM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4595291" y="3068167"/>
            <a:ext cx="1072515" cy="266700"/>
            <a:chOff x="4595291" y="3068167"/>
            <a:chExt cx="1072515" cy="266700"/>
          </a:xfrm>
        </p:grpSpPr>
        <p:sp>
          <p:nvSpPr>
            <p:cNvPr id="25" name="object 25" descr=""/>
            <p:cNvSpPr/>
            <p:nvPr/>
          </p:nvSpPr>
          <p:spPr>
            <a:xfrm>
              <a:off x="4595291" y="3068167"/>
              <a:ext cx="1072515" cy="266700"/>
            </a:xfrm>
            <a:custGeom>
              <a:avLst/>
              <a:gdLst/>
              <a:ahLst/>
              <a:cxnLst/>
              <a:rect l="l" t="t" r="r" b="b"/>
              <a:pathLst>
                <a:path w="1072514" h="266700">
                  <a:moveTo>
                    <a:pt x="970309" y="0"/>
                  </a:moveTo>
                  <a:lnTo>
                    <a:pt x="102071" y="0"/>
                  </a:lnTo>
                  <a:lnTo>
                    <a:pt x="62500" y="8074"/>
                  </a:lnTo>
                  <a:lnTo>
                    <a:pt x="30037" y="30037"/>
                  </a:lnTo>
                  <a:lnTo>
                    <a:pt x="8074" y="62498"/>
                  </a:lnTo>
                  <a:lnTo>
                    <a:pt x="0" y="102069"/>
                  </a:lnTo>
                  <a:lnTo>
                    <a:pt x="0" y="164325"/>
                  </a:lnTo>
                  <a:lnTo>
                    <a:pt x="8074" y="203898"/>
                  </a:lnTo>
                  <a:lnTo>
                    <a:pt x="30037" y="236364"/>
                  </a:lnTo>
                  <a:lnTo>
                    <a:pt x="62500" y="258331"/>
                  </a:lnTo>
                  <a:lnTo>
                    <a:pt x="102071" y="266407"/>
                  </a:lnTo>
                  <a:lnTo>
                    <a:pt x="970309" y="266407"/>
                  </a:lnTo>
                  <a:lnTo>
                    <a:pt x="1009880" y="258331"/>
                  </a:lnTo>
                  <a:lnTo>
                    <a:pt x="1042343" y="236364"/>
                  </a:lnTo>
                  <a:lnTo>
                    <a:pt x="1064307" y="203898"/>
                  </a:lnTo>
                  <a:lnTo>
                    <a:pt x="1072381" y="164325"/>
                  </a:lnTo>
                  <a:lnTo>
                    <a:pt x="1072381" y="102069"/>
                  </a:lnTo>
                  <a:lnTo>
                    <a:pt x="1064307" y="62498"/>
                  </a:lnTo>
                  <a:lnTo>
                    <a:pt x="1042343" y="30037"/>
                  </a:lnTo>
                  <a:lnTo>
                    <a:pt x="1009880" y="8074"/>
                  </a:lnTo>
                  <a:lnTo>
                    <a:pt x="970309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80343" y="3144659"/>
              <a:ext cx="113406" cy="113411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4837760" y="3095675"/>
            <a:ext cx="78613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666666"/>
                </a:solidFill>
                <a:latin typeface="Arial"/>
                <a:cs typeface="Arial"/>
              </a:rPr>
              <a:t>PROMETHEUS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5738520" y="3068167"/>
            <a:ext cx="848360" cy="266700"/>
            <a:chOff x="5738520" y="3068167"/>
            <a:chExt cx="848360" cy="266700"/>
          </a:xfrm>
        </p:grpSpPr>
        <p:sp>
          <p:nvSpPr>
            <p:cNvPr id="29" name="object 29" descr=""/>
            <p:cNvSpPr/>
            <p:nvPr/>
          </p:nvSpPr>
          <p:spPr>
            <a:xfrm>
              <a:off x="5738520" y="3068167"/>
              <a:ext cx="848360" cy="266700"/>
            </a:xfrm>
            <a:custGeom>
              <a:avLst/>
              <a:gdLst/>
              <a:ahLst/>
              <a:cxnLst/>
              <a:rect l="l" t="t" r="r" b="b"/>
              <a:pathLst>
                <a:path w="848359" h="266700">
                  <a:moveTo>
                    <a:pt x="745876" y="0"/>
                  </a:moveTo>
                  <a:lnTo>
                    <a:pt x="102071" y="0"/>
                  </a:lnTo>
                  <a:lnTo>
                    <a:pt x="62500" y="8074"/>
                  </a:lnTo>
                  <a:lnTo>
                    <a:pt x="30037" y="30037"/>
                  </a:lnTo>
                  <a:lnTo>
                    <a:pt x="8074" y="62498"/>
                  </a:lnTo>
                  <a:lnTo>
                    <a:pt x="0" y="102069"/>
                  </a:lnTo>
                  <a:lnTo>
                    <a:pt x="0" y="164325"/>
                  </a:lnTo>
                  <a:lnTo>
                    <a:pt x="8074" y="203898"/>
                  </a:lnTo>
                  <a:lnTo>
                    <a:pt x="30037" y="236364"/>
                  </a:lnTo>
                  <a:lnTo>
                    <a:pt x="62500" y="258331"/>
                  </a:lnTo>
                  <a:lnTo>
                    <a:pt x="102071" y="266407"/>
                  </a:lnTo>
                  <a:lnTo>
                    <a:pt x="745876" y="266407"/>
                  </a:lnTo>
                  <a:lnTo>
                    <a:pt x="785447" y="258331"/>
                  </a:lnTo>
                  <a:lnTo>
                    <a:pt x="817910" y="236364"/>
                  </a:lnTo>
                  <a:lnTo>
                    <a:pt x="839873" y="203898"/>
                  </a:lnTo>
                  <a:lnTo>
                    <a:pt x="847948" y="164325"/>
                  </a:lnTo>
                  <a:lnTo>
                    <a:pt x="847948" y="102069"/>
                  </a:lnTo>
                  <a:lnTo>
                    <a:pt x="839873" y="62498"/>
                  </a:lnTo>
                  <a:lnTo>
                    <a:pt x="817910" y="30037"/>
                  </a:lnTo>
                  <a:lnTo>
                    <a:pt x="785447" y="8074"/>
                  </a:lnTo>
                  <a:lnTo>
                    <a:pt x="745876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23572" y="3144659"/>
              <a:ext cx="113406" cy="113411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5980976" y="3095675"/>
            <a:ext cx="54673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666666"/>
                </a:solidFill>
                <a:latin typeface="Arial"/>
                <a:cs typeface="Arial"/>
              </a:rPr>
              <a:t>GRAFANA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6657302" y="3068167"/>
            <a:ext cx="897255" cy="266700"/>
            <a:chOff x="6657302" y="3068167"/>
            <a:chExt cx="897255" cy="266700"/>
          </a:xfrm>
        </p:grpSpPr>
        <p:sp>
          <p:nvSpPr>
            <p:cNvPr id="33" name="object 33" descr=""/>
            <p:cNvSpPr/>
            <p:nvPr/>
          </p:nvSpPr>
          <p:spPr>
            <a:xfrm>
              <a:off x="6657302" y="3068167"/>
              <a:ext cx="897255" cy="266700"/>
            </a:xfrm>
            <a:custGeom>
              <a:avLst/>
              <a:gdLst/>
              <a:ahLst/>
              <a:cxnLst/>
              <a:rect l="l" t="t" r="r" b="b"/>
              <a:pathLst>
                <a:path w="897254" h="266700">
                  <a:moveTo>
                    <a:pt x="794617" y="0"/>
                  </a:moveTo>
                  <a:lnTo>
                    <a:pt x="102071" y="0"/>
                  </a:lnTo>
                  <a:lnTo>
                    <a:pt x="62500" y="8074"/>
                  </a:lnTo>
                  <a:lnTo>
                    <a:pt x="30037" y="30037"/>
                  </a:lnTo>
                  <a:lnTo>
                    <a:pt x="8074" y="62498"/>
                  </a:lnTo>
                  <a:lnTo>
                    <a:pt x="0" y="102069"/>
                  </a:lnTo>
                  <a:lnTo>
                    <a:pt x="0" y="164325"/>
                  </a:lnTo>
                  <a:lnTo>
                    <a:pt x="8074" y="203898"/>
                  </a:lnTo>
                  <a:lnTo>
                    <a:pt x="30037" y="236364"/>
                  </a:lnTo>
                  <a:lnTo>
                    <a:pt x="62500" y="258331"/>
                  </a:lnTo>
                  <a:lnTo>
                    <a:pt x="102071" y="266407"/>
                  </a:lnTo>
                  <a:lnTo>
                    <a:pt x="794617" y="266407"/>
                  </a:lnTo>
                  <a:lnTo>
                    <a:pt x="834188" y="258331"/>
                  </a:lnTo>
                  <a:lnTo>
                    <a:pt x="866650" y="236364"/>
                  </a:lnTo>
                  <a:lnTo>
                    <a:pt x="888614" y="203898"/>
                  </a:lnTo>
                  <a:lnTo>
                    <a:pt x="896688" y="164325"/>
                  </a:lnTo>
                  <a:lnTo>
                    <a:pt x="896688" y="102069"/>
                  </a:lnTo>
                  <a:lnTo>
                    <a:pt x="888614" y="62498"/>
                  </a:lnTo>
                  <a:lnTo>
                    <a:pt x="866650" y="30037"/>
                  </a:lnTo>
                  <a:lnTo>
                    <a:pt x="834188" y="8074"/>
                  </a:lnTo>
                  <a:lnTo>
                    <a:pt x="794617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2366" y="3144659"/>
              <a:ext cx="113406" cy="113411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6899770" y="3095675"/>
            <a:ext cx="61912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666666"/>
                </a:solidFill>
                <a:latin typeface="Arial"/>
                <a:cs typeface="Arial"/>
              </a:rPr>
              <a:t>ELK</a:t>
            </a:r>
            <a:r>
              <a:rPr dirty="0" sz="850" spc="-10">
                <a:solidFill>
                  <a:srgbClr val="666666"/>
                </a:solidFill>
                <a:latin typeface="Arial"/>
                <a:cs typeface="Arial"/>
              </a:rPr>
              <a:t> STACK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7624838" y="3068167"/>
            <a:ext cx="995680" cy="266700"/>
            <a:chOff x="7624838" y="3068167"/>
            <a:chExt cx="995680" cy="266700"/>
          </a:xfrm>
        </p:grpSpPr>
        <p:sp>
          <p:nvSpPr>
            <p:cNvPr id="37" name="object 37" descr=""/>
            <p:cNvSpPr/>
            <p:nvPr/>
          </p:nvSpPr>
          <p:spPr>
            <a:xfrm>
              <a:off x="7624838" y="3068167"/>
              <a:ext cx="995680" cy="266700"/>
            </a:xfrm>
            <a:custGeom>
              <a:avLst/>
              <a:gdLst/>
              <a:ahLst/>
              <a:cxnLst/>
              <a:rect l="l" t="t" r="r" b="b"/>
              <a:pathLst>
                <a:path w="995679" h="266700">
                  <a:moveTo>
                    <a:pt x="892992" y="0"/>
                  </a:moveTo>
                  <a:lnTo>
                    <a:pt x="102071" y="0"/>
                  </a:lnTo>
                  <a:lnTo>
                    <a:pt x="62500" y="8074"/>
                  </a:lnTo>
                  <a:lnTo>
                    <a:pt x="30037" y="30037"/>
                  </a:lnTo>
                  <a:lnTo>
                    <a:pt x="8074" y="62498"/>
                  </a:lnTo>
                  <a:lnTo>
                    <a:pt x="0" y="102069"/>
                  </a:lnTo>
                  <a:lnTo>
                    <a:pt x="0" y="164325"/>
                  </a:lnTo>
                  <a:lnTo>
                    <a:pt x="8074" y="203898"/>
                  </a:lnTo>
                  <a:lnTo>
                    <a:pt x="30037" y="236364"/>
                  </a:lnTo>
                  <a:lnTo>
                    <a:pt x="62500" y="258331"/>
                  </a:lnTo>
                  <a:lnTo>
                    <a:pt x="102071" y="266407"/>
                  </a:lnTo>
                  <a:lnTo>
                    <a:pt x="892992" y="266407"/>
                  </a:lnTo>
                  <a:lnTo>
                    <a:pt x="932564" y="258331"/>
                  </a:lnTo>
                  <a:lnTo>
                    <a:pt x="965026" y="236364"/>
                  </a:lnTo>
                  <a:lnTo>
                    <a:pt x="986990" y="203898"/>
                  </a:lnTo>
                  <a:lnTo>
                    <a:pt x="995065" y="164325"/>
                  </a:lnTo>
                  <a:lnTo>
                    <a:pt x="995065" y="102069"/>
                  </a:lnTo>
                  <a:lnTo>
                    <a:pt x="986990" y="62498"/>
                  </a:lnTo>
                  <a:lnTo>
                    <a:pt x="965026" y="30037"/>
                  </a:lnTo>
                  <a:lnTo>
                    <a:pt x="932564" y="8074"/>
                  </a:lnTo>
                  <a:lnTo>
                    <a:pt x="892992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09890" y="3144659"/>
              <a:ext cx="113406" cy="113411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7867307" y="3095675"/>
            <a:ext cx="70929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666666"/>
                </a:solidFill>
                <a:latin typeface="Arial"/>
                <a:cs typeface="Arial"/>
              </a:rPr>
              <a:t>TERRAFORM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496119" y="3405416"/>
            <a:ext cx="579755" cy="266700"/>
            <a:chOff x="496119" y="3405416"/>
            <a:chExt cx="579755" cy="266700"/>
          </a:xfrm>
        </p:grpSpPr>
        <p:sp>
          <p:nvSpPr>
            <p:cNvPr id="41" name="object 41" descr=""/>
            <p:cNvSpPr/>
            <p:nvPr/>
          </p:nvSpPr>
          <p:spPr>
            <a:xfrm>
              <a:off x="496119" y="3405416"/>
              <a:ext cx="579755" cy="266700"/>
            </a:xfrm>
            <a:custGeom>
              <a:avLst/>
              <a:gdLst/>
              <a:ahLst/>
              <a:cxnLst/>
              <a:rect l="l" t="t" r="r" b="b"/>
              <a:pathLst>
                <a:path w="579755" h="266700">
                  <a:moveTo>
                    <a:pt x="477166" y="0"/>
                  </a:moveTo>
                  <a:lnTo>
                    <a:pt x="102071" y="0"/>
                  </a:lnTo>
                  <a:lnTo>
                    <a:pt x="62500" y="8074"/>
                  </a:lnTo>
                  <a:lnTo>
                    <a:pt x="30037" y="30037"/>
                  </a:lnTo>
                  <a:lnTo>
                    <a:pt x="8074" y="62498"/>
                  </a:lnTo>
                  <a:lnTo>
                    <a:pt x="0" y="102069"/>
                  </a:lnTo>
                  <a:lnTo>
                    <a:pt x="0" y="164325"/>
                  </a:lnTo>
                  <a:lnTo>
                    <a:pt x="8074" y="203898"/>
                  </a:lnTo>
                  <a:lnTo>
                    <a:pt x="30037" y="236364"/>
                  </a:lnTo>
                  <a:lnTo>
                    <a:pt x="62500" y="258331"/>
                  </a:lnTo>
                  <a:lnTo>
                    <a:pt x="102071" y="266407"/>
                  </a:lnTo>
                  <a:lnTo>
                    <a:pt x="477166" y="266407"/>
                  </a:lnTo>
                  <a:lnTo>
                    <a:pt x="516738" y="258331"/>
                  </a:lnTo>
                  <a:lnTo>
                    <a:pt x="549201" y="236364"/>
                  </a:lnTo>
                  <a:lnTo>
                    <a:pt x="571164" y="203898"/>
                  </a:lnTo>
                  <a:lnTo>
                    <a:pt x="579239" y="164325"/>
                  </a:lnTo>
                  <a:lnTo>
                    <a:pt x="579239" y="102069"/>
                  </a:lnTo>
                  <a:lnTo>
                    <a:pt x="571164" y="62498"/>
                  </a:lnTo>
                  <a:lnTo>
                    <a:pt x="549201" y="30037"/>
                  </a:lnTo>
                  <a:lnTo>
                    <a:pt x="516738" y="8074"/>
                  </a:lnTo>
                  <a:lnTo>
                    <a:pt x="477166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1173" y="3481908"/>
              <a:ext cx="113406" cy="113411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738583" y="3432911"/>
            <a:ext cx="27114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666666"/>
                </a:solidFill>
                <a:latin typeface="Arial"/>
                <a:cs typeface="Arial"/>
              </a:rPr>
              <a:t>AWS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77800" y="3880097"/>
            <a:ext cx="8123555" cy="1220470"/>
            <a:chOff x="977800" y="3880097"/>
            <a:chExt cx="8123555" cy="1220470"/>
          </a:xfrm>
        </p:grpSpPr>
        <p:sp>
          <p:nvSpPr>
            <p:cNvPr id="3" name="object 3" descr=""/>
            <p:cNvSpPr/>
            <p:nvPr/>
          </p:nvSpPr>
          <p:spPr>
            <a:xfrm>
              <a:off x="986781" y="3889083"/>
              <a:ext cx="7188834" cy="964565"/>
            </a:xfrm>
            <a:custGeom>
              <a:avLst/>
              <a:gdLst/>
              <a:ahLst/>
              <a:cxnLst/>
              <a:rect l="l" t="t" r="r" b="b"/>
              <a:pathLst>
                <a:path w="7188834" h="964564">
                  <a:moveTo>
                    <a:pt x="7094156" y="0"/>
                  </a:moveTo>
                  <a:lnTo>
                    <a:pt x="94161" y="0"/>
                  </a:lnTo>
                  <a:lnTo>
                    <a:pt x="57656" y="7448"/>
                  </a:lnTo>
                  <a:lnTo>
                    <a:pt x="27710" y="27709"/>
                  </a:lnTo>
                  <a:lnTo>
                    <a:pt x="7448" y="57655"/>
                  </a:lnTo>
                  <a:lnTo>
                    <a:pt x="0" y="94157"/>
                  </a:lnTo>
                  <a:lnTo>
                    <a:pt x="0" y="870026"/>
                  </a:lnTo>
                  <a:lnTo>
                    <a:pt x="7448" y="906528"/>
                  </a:lnTo>
                  <a:lnTo>
                    <a:pt x="27710" y="936474"/>
                  </a:lnTo>
                  <a:lnTo>
                    <a:pt x="57656" y="956735"/>
                  </a:lnTo>
                  <a:lnTo>
                    <a:pt x="94161" y="964184"/>
                  </a:lnTo>
                  <a:lnTo>
                    <a:pt x="7094156" y="964184"/>
                  </a:lnTo>
                  <a:lnTo>
                    <a:pt x="7130666" y="956735"/>
                  </a:lnTo>
                  <a:lnTo>
                    <a:pt x="7160615" y="936474"/>
                  </a:lnTo>
                  <a:lnTo>
                    <a:pt x="7180878" y="906528"/>
                  </a:lnTo>
                  <a:lnTo>
                    <a:pt x="7188327" y="870026"/>
                  </a:lnTo>
                  <a:lnTo>
                    <a:pt x="7188327" y="94157"/>
                  </a:lnTo>
                  <a:lnTo>
                    <a:pt x="7180878" y="57655"/>
                  </a:lnTo>
                  <a:lnTo>
                    <a:pt x="7160615" y="27709"/>
                  </a:lnTo>
                  <a:lnTo>
                    <a:pt x="7130666" y="7448"/>
                  </a:lnTo>
                  <a:lnTo>
                    <a:pt x="7094156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80182" y="3882479"/>
              <a:ext cx="7183755" cy="959485"/>
            </a:xfrm>
            <a:custGeom>
              <a:avLst/>
              <a:gdLst/>
              <a:ahLst/>
              <a:cxnLst/>
              <a:rect l="l" t="t" r="r" b="b"/>
              <a:pathLst>
                <a:path w="7183755" h="959485">
                  <a:moveTo>
                    <a:pt x="7089863" y="0"/>
                  </a:moveTo>
                  <a:lnTo>
                    <a:pt x="93696" y="0"/>
                  </a:lnTo>
                  <a:lnTo>
                    <a:pt x="57371" y="7411"/>
                  </a:lnTo>
                  <a:lnTo>
                    <a:pt x="27573" y="27571"/>
                  </a:lnTo>
                  <a:lnTo>
                    <a:pt x="7411" y="57371"/>
                  </a:lnTo>
                  <a:lnTo>
                    <a:pt x="0" y="93700"/>
                  </a:lnTo>
                  <a:lnTo>
                    <a:pt x="0" y="865720"/>
                  </a:lnTo>
                  <a:lnTo>
                    <a:pt x="7411" y="902050"/>
                  </a:lnTo>
                  <a:lnTo>
                    <a:pt x="27573" y="931849"/>
                  </a:lnTo>
                  <a:lnTo>
                    <a:pt x="57371" y="952010"/>
                  </a:lnTo>
                  <a:lnTo>
                    <a:pt x="93696" y="959421"/>
                  </a:lnTo>
                  <a:lnTo>
                    <a:pt x="7089863" y="959421"/>
                  </a:lnTo>
                  <a:lnTo>
                    <a:pt x="7126187" y="952010"/>
                  </a:lnTo>
                  <a:lnTo>
                    <a:pt x="7155988" y="931849"/>
                  </a:lnTo>
                  <a:lnTo>
                    <a:pt x="7176151" y="902050"/>
                  </a:lnTo>
                  <a:lnTo>
                    <a:pt x="7183564" y="865720"/>
                  </a:lnTo>
                  <a:lnTo>
                    <a:pt x="7183564" y="93700"/>
                  </a:lnTo>
                  <a:lnTo>
                    <a:pt x="7176151" y="57371"/>
                  </a:lnTo>
                  <a:lnTo>
                    <a:pt x="7155988" y="27571"/>
                  </a:lnTo>
                  <a:lnTo>
                    <a:pt x="7126187" y="7411"/>
                  </a:lnTo>
                  <a:lnTo>
                    <a:pt x="7089863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80182" y="3882479"/>
              <a:ext cx="7183755" cy="959485"/>
            </a:xfrm>
            <a:custGeom>
              <a:avLst/>
              <a:gdLst/>
              <a:ahLst/>
              <a:cxnLst/>
              <a:rect l="l" t="t" r="r" b="b"/>
              <a:pathLst>
                <a:path w="7183755" h="959485">
                  <a:moveTo>
                    <a:pt x="0" y="93700"/>
                  </a:moveTo>
                  <a:lnTo>
                    <a:pt x="7411" y="57371"/>
                  </a:lnTo>
                  <a:lnTo>
                    <a:pt x="27573" y="27571"/>
                  </a:lnTo>
                  <a:lnTo>
                    <a:pt x="57371" y="7411"/>
                  </a:lnTo>
                  <a:lnTo>
                    <a:pt x="93696" y="0"/>
                  </a:lnTo>
                  <a:lnTo>
                    <a:pt x="7089863" y="0"/>
                  </a:lnTo>
                  <a:lnTo>
                    <a:pt x="7126187" y="7411"/>
                  </a:lnTo>
                  <a:lnTo>
                    <a:pt x="7155988" y="27571"/>
                  </a:lnTo>
                  <a:lnTo>
                    <a:pt x="7176151" y="57371"/>
                  </a:lnTo>
                  <a:lnTo>
                    <a:pt x="7183564" y="93700"/>
                  </a:lnTo>
                  <a:lnTo>
                    <a:pt x="7183564" y="865720"/>
                  </a:lnTo>
                  <a:lnTo>
                    <a:pt x="7176151" y="902050"/>
                  </a:lnTo>
                  <a:lnTo>
                    <a:pt x="7155988" y="931849"/>
                  </a:lnTo>
                  <a:lnTo>
                    <a:pt x="7126187" y="952010"/>
                  </a:lnTo>
                  <a:lnTo>
                    <a:pt x="7089863" y="959421"/>
                  </a:lnTo>
                  <a:lnTo>
                    <a:pt x="93696" y="959421"/>
                  </a:lnTo>
                  <a:lnTo>
                    <a:pt x="57371" y="952010"/>
                  </a:lnTo>
                  <a:lnTo>
                    <a:pt x="27573" y="931849"/>
                  </a:lnTo>
                  <a:lnTo>
                    <a:pt x="7411" y="902050"/>
                  </a:lnTo>
                  <a:lnTo>
                    <a:pt x="0" y="865720"/>
                  </a:lnTo>
                  <a:lnTo>
                    <a:pt x="0" y="93700"/>
                  </a:lnTo>
                  <a:close/>
                </a:path>
              </a:pathLst>
            </a:custGeom>
            <a:ln w="4762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89049" y="3991343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19" h="312420">
                  <a:moveTo>
                    <a:pt x="156157" y="0"/>
                  </a:moveTo>
                  <a:lnTo>
                    <a:pt x="107021" y="8017"/>
                  </a:lnTo>
                  <a:lnTo>
                    <a:pt x="64182" y="30297"/>
                  </a:lnTo>
                  <a:lnTo>
                    <a:pt x="30295" y="64185"/>
                  </a:lnTo>
                  <a:lnTo>
                    <a:pt x="8016" y="107024"/>
                  </a:lnTo>
                  <a:lnTo>
                    <a:pt x="0" y="156159"/>
                  </a:lnTo>
                  <a:lnTo>
                    <a:pt x="8016" y="205293"/>
                  </a:lnTo>
                  <a:lnTo>
                    <a:pt x="30295" y="248133"/>
                  </a:lnTo>
                  <a:lnTo>
                    <a:pt x="64182" y="282020"/>
                  </a:lnTo>
                  <a:lnTo>
                    <a:pt x="107021" y="304301"/>
                  </a:lnTo>
                  <a:lnTo>
                    <a:pt x="156157" y="312318"/>
                  </a:lnTo>
                  <a:lnTo>
                    <a:pt x="205293" y="304301"/>
                  </a:lnTo>
                  <a:lnTo>
                    <a:pt x="248132" y="282020"/>
                  </a:lnTo>
                  <a:lnTo>
                    <a:pt x="282019" y="248133"/>
                  </a:lnTo>
                  <a:lnTo>
                    <a:pt x="304299" y="205293"/>
                  </a:lnTo>
                  <a:lnTo>
                    <a:pt x="312315" y="156159"/>
                  </a:lnTo>
                  <a:lnTo>
                    <a:pt x="304299" y="107024"/>
                  </a:lnTo>
                  <a:lnTo>
                    <a:pt x="282019" y="64185"/>
                  </a:lnTo>
                  <a:lnTo>
                    <a:pt x="248132" y="30297"/>
                  </a:lnTo>
                  <a:lnTo>
                    <a:pt x="205293" y="8017"/>
                  </a:lnTo>
                  <a:lnTo>
                    <a:pt x="156157" y="0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4923" y="4077220"/>
              <a:ext cx="140493" cy="1405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67482" y="283527"/>
            <a:ext cx="1943735" cy="330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/>
              <a:t>Project</a:t>
            </a:r>
            <a:r>
              <a:rPr dirty="0" sz="2000" spc="-40"/>
              <a:t> </a:t>
            </a:r>
            <a:r>
              <a:rPr dirty="0" sz="2000" spc="-10"/>
              <a:t>Overview</a:t>
            </a:r>
            <a:endParaRPr sz="2000"/>
          </a:p>
        </p:txBody>
      </p:sp>
      <p:sp>
        <p:nvSpPr>
          <p:cNvPr id="9" name="object 9" descr=""/>
          <p:cNvSpPr txBox="1"/>
          <p:nvPr/>
        </p:nvSpPr>
        <p:spPr>
          <a:xfrm>
            <a:off x="967482" y="640455"/>
            <a:ext cx="3723640" cy="524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E6EF3"/>
                </a:solidFill>
                <a:latin typeface="Arial"/>
                <a:cs typeface="Arial"/>
              </a:rPr>
              <a:t>Project</a:t>
            </a:r>
            <a:r>
              <a:rPr dirty="0" sz="1600" spc="-25">
                <a:solidFill>
                  <a:srgbClr val="3E6EF3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3E6EF3"/>
                </a:solidFill>
                <a:latin typeface="Arial"/>
                <a:cs typeface="Arial"/>
              </a:rPr>
              <a:t>Objective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Build</a:t>
            </a:r>
            <a:r>
              <a:rPr dirty="0" sz="8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dirty="0" sz="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deploy</a:t>
            </a:r>
            <a:r>
              <a:rPr dirty="0" sz="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6666"/>
                </a:solidFill>
                <a:latin typeface="Arial"/>
                <a:cs typeface="Arial"/>
              </a:rPr>
              <a:t>containerized</a:t>
            </a:r>
            <a:r>
              <a:rPr dirty="0" sz="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web</a:t>
            </a:r>
            <a:r>
              <a:rPr dirty="0" sz="8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dirty="0" sz="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using</a:t>
            </a:r>
            <a:r>
              <a:rPr dirty="0" sz="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modern</a:t>
            </a:r>
            <a:r>
              <a:rPr dirty="0" sz="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DevOps</a:t>
            </a:r>
            <a:r>
              <a:rPr dirty="0" sz="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6666"/>
                </a:solidFill>
                <a:latin typeface="Arial"/>
                <a:cs typeface="Arial"/>
              </a:rPr>
              <a:t>practices.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67482" y="1274457"/>
            <a:ext cx="96329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E6EF3"/>
                </a:solidFill>
                <a:latin typeface="Arial"/>
                <a:cs typeface="Arial"/>
              </a:rPr>
              <a:t>Key </a:t>
            </a:r>
            <a:r>
              <a:rPr dirty="0" sz="1600" spc="-10">
                <a:solidFill>
                  <a:srgbClr val="3E6EF3"/>
                </a:solidFill>
                <a:latin typeface="Arial"/>
                <a:cs typeface="Arial"/>
              </a:rPr>
              <a:t>Goals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977800" y="1663972"/>
            <a:ext cx="2357755" cy="973455"/>
            <a:chOff x="977800" y="1663972"/>
            <a:chExt cx="2357755" cy="973455"/>
          </a:xfrm>
        </p:grpSpPr>
        <p:sp>
          <p:nvSpPr>
            <p:cNvPr id="12" name="object 12" descr=""/>
            <p:cNvSpPr/>
            <p:nvPr/>
          </p:nvSpPr>
          <p:spPr>
            <a:xfrm>
              <a:off x="986781" y="1672958"/>
              <a:ext cx="2348865" cy="964565"/>
            </a:xfrm>
            <a:custGeom>
              <a:avLst/>
              <a:gdLst/>
              <a:ahLst/>
              <a:cxnLst/>
              <a:rect l="l" t="t" r="r" b="b"/>
              <a:pathLst>
                <a:path w="2348865" h="964564">
                  <a:moveTo>
                    <a:pt x="2254123" y="0"/>
                  </a:moveTo>
                  <a:lnTo>
                    <a:pt x="94161" y="0"/>
                  </a:lnTo>
                  <a:lnTo>
                    <a:pt x="57656" y="7448"/>
                  </a:lnTo>
                  <a:lnTo>
                    <a:pt x="27710" y="27709"/>
                  </a:lnTo>
                  <a:lnTo>
                    <a:pt x="7448" y="57655"/>
                  </a:lnTo>
                  <a:lnTo>
                    <a:pt x="0" y="94157"/>
                  </a:lnTo>
                  <a:lnTo>
                    <a:pt x="0" y="870026"/>
                  </a:lnTo>
                  <a:lnTo>
                    <a:pt x="7448" y="906528"/>
                  </a:lnTo>
                  <a:lnTo>
                    <a:pt x="27710" y="936474"/>
                  </a:lnTo>
                  <a:lnTo>
                    <a:pt x="57656" y="956735"/>
                  </a:lnTo>
                  <a:lnTo>
                    <a:pt x="94161" y="964184"/>
                  </a:lnTo>
                  <a:lnTo>
                    <a:pt x="2254123" y="964184"/>
                  </a:lnTo>
                  <a:lnTo>
                    <a:pt x="2290625" y="956735"/>
                  </a:lnTo>
                  <a:lnTo>
                    <a:pt x="2320570" y="936474"/>
                  </a:lnTo>
                  <a:lnTo>
                    <a:pt x="2340832" y="906528"/>
                  </a:lnTo>
                  <a:lnTo>
                    <a:pt x="2348280" y="870026"/>
                  </a:lnTo>
                  <a:lnTo>
                    <a:pt x="2348280" y="94157"/>
                  </a:lnTo>
                  <a:lnTo>
                    <a:pt x="2340832" y="57655"/>
                  </a:lnTo>
                  <a:lnTo>
                    <a:pt x="2320570" y="27709"/>
                  </a:lnTo>
                  <a:lnTo>
                    <a:pt x="2290625" y="7448"/>
                  </a:lnTo>
                  <a:lnTo>
                    <a:pt x="2254123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80182" y="1666354"/>
              <a:ext cx="2343785" cy="959485"/>
            </a:xfrm>
            <a:custGeom>
              <a:avLst/>
              <a:gdLst/>
              <a:ahLst/>
              <a:cxnLst/>
              <a:rect l="l" t="t" r="r" b="b"/>
              <a:pathLst>
                <a:path w="2343785" h="959485">
                  <a:moveTo>
                    <a:pt x="2249830" y="0"/>
                  </a:moveTo>
                  <a:lnTo>
                    <a:pt x="93696" y="0"/>
                  </a:lnTo>
                  <a:lnTo>
                    <a:pt x="57371" y="7411"/>
                  </a:lnTo>
                  <a:lnTo>
                    <a:pt x="27573" y="27571"/>
                  </a:lnTo>
                  <a:lnTo>
                    <a:pt x="7411" y="57371"/>
                  </a:lnTo>
                  <a:lnTo>
                    <a:pt x="0" y="93700"/>
                  </a:lnTo>
                  <a:lnTo>
                    <a:pt x="0" y="865720"/>
                  </a:lnTo>
                  <a:lnTo>
                    <a:pt x="7411" y="902050"/>
                  </a:lnTo>
                  <a:lnTo>
                    <a:pt x="27573" y="931849"/>
                  </a:lnTo>
                  <a:lnTo>
                    <a:pt x="57371" y="952010"/>
                  </a:lnTo>
                  <a:lnTo>
                    <a:pt x="93696" y="959421"/>
                  </a:lnTo>
                  <a:lnTo>
                    <a:pt x="2249830" y="959421"/>
                  </a:lnTo>
                  <a:lnTo>
                    <a:pt x="2286152" y="952010"/>
                  </a:lnTo>
                  <a:lnTo>
                    <a:pt x="2315948" y="931849"/>
                  </a:lnTo>
                  <a:lnTo>
                    <a:pt x="2336107" y="902050"/>
                  </a:lnTo>
                  <a:lnTo>
                    <a:pt x="2343518" y="865720"/>
                  </a:lnTo>
                  <a:lnTo>
                    <a:pt x="2343518" y="93700"/>
                  </a:lnTo>
                  <a:lnTo>
                    <a:pt x="2336107" y="57371"/>
                  </a:lnTo>
                  <a:lnTo>
                    <a:pt x="2315948" y="27571"/>
                  </a:lnTo>
                  <a:lnTo>
                    <a:pt x="2286152" y="7411"/>
                  </a:lnTo>
                  <a:lnTo>
                    <a:pt x="2249830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80182" y="1666354"/>
              <a:ext cx="2343785" cy="959485"/>
            </a:xfrm>
            <a:custGeom>
              <a:avLst/>
              <a:gdLst/>
              <a:ahLst/>
              <a:cxnLst/>
              <a:rect l="l" t="t" r="r" b="b"/>
              <a:pathLst>
                <a:path w="2343785" h="959485">
                  <a:moveTo>
                    <a:pt x="0" y="93700"/>
                  </a:moveTo>
                  <a:lnTo>
                    <a:pt x="7411" y="57371"/>
                  </a:lnTo>
                  <a:lnTo>
                    <a:pt x="27573" y="27571"/>
                  </a:lnTo>
                  <a:lnTo>
                    <a:pt x="57371" y="7411"/>
                  </a:lnTo>
                  <a:lnTo>
                    <a:pt x="93696" y="0"/>
                  </a:lnTo>
                  <a:lnTo>
                    <a:pt x="2249830" y="0"/>
                  </a:lnTo>
                  <a:lnTo>
                    <a:pt x="2286152" y="7411"/>
                  </a:lnTo>
                  <a:lnTo>
                    <a:pt x="2315948" y="27571"/>
                  </a:lnTo>
                  <a:lnTo>
                    <a:pt x="2336107" y="57371"/>
                  </a:lnTo>
                  <a:lnTo>
                    <a:pt x="2343518" y="93700"/>
                  </a:lnTo>
                  <a:lnTo>
                    <a:pt x="2343518" y="865720"/>
                  </a:lnTo>
                  <a:lnTo>
                    <a:pt x="2336107" y="902050"/>
                  </a:lnTo>
                  <a:lnTo>
                    <a:pt x="2315948" y="931849"/>
                  </a:lnTo>
                  <a:lnTo>
                    <a:pt x="2286152" y="952010"/>
                  </a:lnTo>
                  <a:lnTo>
                    <a:pt x="2249830" y="959421"/>
                  </a:lnTo>
                  <a:lnTo>
                    <a:pt x="93696" y="959421"/>
                  </a:lnTo>
                  <a:lnTo>
                    <a:pt x="57371" y="952010"/>
                  </a:lnTo>
                  <a:lnTo>
                    <a:pt x="27573" y="931849"/>
                  </a:lnTo>
                  <a:lnTo>
                    <a:pt x="7411" y="902050"/>
                  </a:lnTo>
                  <a:lnTo>
                    <a:pt x="0" y="865720"/>
                  </a:lnTo>
                  <a:lnTo>
                    <a:pt x="0" y="93700"/>
                  </a:lnTo>
                  <a:close/>
                </a:path>
              </a:pathLst>
            </a:custGeom>
            <a:ln w="4762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89049" y="1775218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19" h="312419">
                  <a:moveTo>
                    <a:pt x="156157" y="0"/>
                  </a:moveTo>
                  <a:lnTo>
                    <a:pt x="107021" y="8017"/>
                  </a:lnTo>
                  <a:lnTo>
                    <a:pt x="64182" y="30297"/>
                  </a:lnTo>
                  <a:lnTo>
                    <a:pt x="30295" y="64185"/>
                  </a:lnTo>
                  <a:lnTo>
                    <a:pt x="8016" y="107024"/>
                  </a:lnTo>
                  <a:lnTo>
                    <a:pt x="0" y="156159"/>
                  </a:lnTo>
                  <a:lnTo>
                    <a:pt x="8016" y="205293"/>
                  </a:lnTo>
                  <a:lnTo>
                    <a:pt x="30295" y="248133"/>
                  </a:lnTo>
                  <a:lnTo>
                    <a:pt x="64182" y="282020"/>
                  </a:lnTo>
                  <a:lnTo>
                    <a:pt x="107021" y="304301"/>
                  </a:lnTo>
                  <a:lnTo>
                    <a:pt x="156157" y="312318"/>
                  </a:lnTo>
                  <a:lnTo>
                    <a:pt x="205293" y="304301"/>
                  </a:lnTo>
                  <a:lnTo>
                    <a:pt x="248132" y="282020"/>
                  </a:lnTo>
                  <a:lnTo>
                    <a:pt x="282019" y="248133"/>
                  </a:lnTo>
                  <a:lnTo>
                    <a:pt x="304299" y="205293"/>
                  </a:lnTo>
                  <a:lnTo>
                    <a:pt x="312315" y="156159"/>
                  </a:lnTo>
                  <a:lnTo>
                    <a:pt x="304299" y="107024"/>
                  </a:lnTo>
                  <a:lnTo>
                    <a:pt x="282019" y="64185"/>
                  </a:lnTo>
                  <a:lnTo>
                    <a:pt x="248132" y="30297"/>
                  </a:lnTo>
                  <a:lnTo>
                    <a:pt x="205293" y="8017"/>
                  </a:lnTo>
                  <a:lnTo>
                    <a:pt x="156157" y="0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4923" y="1861096"/>
              <a:ext cx="140493" cy="14050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076349" y="2077754"/>
            <a:ext cx="1731010" cy="42735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000">
                <a:latin typeface="Arial"/>
                <a:cs typeface="Arial"/>
              </a:rPr>
              <a:t>Containerize</a:t>
            </a:r>
            <a:r>
              <a:rPr dirty="0" sz="1000" spc="-5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Application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800" spc="-10">
                <a:latin typeface="Arial"/>
                <a:cs typeface="Arial"/>
              </a:rPr>
              <a:t>Containerize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application</a:t>
            </a:r>
            <a:r>
              <a:rPr dirty="0" sz="800">
                <a:latin typeface="Arial"/>
                <a:cs typeface="Arial"/>
              </a:rPr>
              <a:t> using </a:t>
            </a:r>
            <a:r>
              <a:rPr dirty="0" sz="800" spc="-10">
                <a:latin typeface="Arial"/>
                <a:cs typeface="Arial"/>
              </a:rPr>
              <a:t>Docker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397751" y="1663972"/>
            <a:ext cx="2357755" cy="973455"/>
            <a:chOff x="3397751" y="1663972"/>
            <a:chExt cx="2357755" cy="973455"/>
          </a:xfrm>
        </p:grpSpPr>
        <p:sp>
          <p:nvSpPr>
            <p:cNvPr id="19" name="object 19" descr=""/>
            <p:cNvSpPr/>
            <p:nvPr/>
          </p:nvSpPr>
          <p:spPr>
            <a:xfrm>
              <a:off x="3406724" y="1672958"/>
              <a:ext cx="2348865" cy="964565"/>
            </a:xfrm>
            <a:custGeom>
              <a:avLst/>
              <a:gdLst/>
              <a:ahLst/>
              <a:cxnLst/>
              <a:rect l="l" t="t" r="r" b="b"/>
              <a:pathLst>
                <a:path w="2348865" h="964564">
                  <a:moveTo>
                    <a:pt x="2254199" y="0"/>
                  </a:moveTo>
                  <a:lnTo>
                    <a:pt x="94161" y="0"/>
                  </a:lnTo>
                  <a:lnTo>
                    <a:pt x="57656" y="7448"/>
                  </a:lnTo>
                  <a:lnTo>
                    <a:pt x="27710" y="27709"/>
                  </a:lnTo>
                  <a:lnTo>
                    <a:pt x="7448" y="57655"/>
                  </a:lnTo>
                  <a:lnTo>
                    <a:pt x="0" y="94157"/>
                  </a:lnTo>
                  <a:lnTo>
                    <a:pt x="0" y="870026"/>
                  </a:lnTo>
                  <a:lnTo>
                    <a:pt x="7448" y="906528"/>
                  </a:lnTo>
                  <a:lnTo>
                    <a:pt x="27710" y="936474"/>
                  </a:lnTo>
                  <a:lnTo>
                    <a:pt x="57656" y="956735"/>
                  </a:lnTo>
                  <a:lnTo>
                    <a:pt x="94161" y="964184"/>
                  </a:lnTo>
                  <a:lnTo>
                    <a:pt x="2254199" y="964184"/>
                  </a:lnTo>
                  <a:lnTo>
                    <a:pt x="2290701" y="956735"/>
                  </a:lnTo>
                  <a:lnTo>
                    <a:pt x="2320647" y="936474"/>
                  </a:lnTo>
                  <a:lnTo>
                    <a:pt x="2340908" y="906528"/>
                  </a:lnTo>
                  <a:lnTo>
                    <a:pt x="2348357" y="870026"/>
                  </a:lnTo>
                  <a:lnTo>
                    <a:pt x="2348357" y="94157"/>
                  </a:lnTo>
                  <a:lnTo>
                    <a:pt x="2340908" y="57655"/>
                  </a:lnTo>
                  <a:lnTo>
                    <a:pt x="2320647" y="27709"/>
                  </a:lnTo>
                  <a:lnTo>
                    <a:pt x="2290701" y="7448"/>
                  </a:lnTo>
                  <a:lnTo>
                    <a:pt x="2254199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400132" y="1666354"/>
              <a:ext cx="2343785" cy="959485"/>
            </a:xfrm>
            <a:custGeom>
              <a:avLst/>
              <a:gdLst/>
              <a:ahLst/>
              <a:cxnLst/>
              <a:rect l="l" t="t" r="r" b="b"/>
              <a:pathLst>
                <a:path w="2343785" h="959485">
                  <a:moveTo>
                    <a:pt x="2249893" y="0"/>
                  </a:moveTo>
                  <a:lnTo>
                    <a:pt x="93696" y="0"/>
                  </a:lnTo>
                  <a:lnTo>
                    <a:pt x="57371" y="7411"/>
                  </a:lnTo>
                  <a:lnTo>
                    <a:pt x="27573" y="27571"/>
                  </a:lnTo>
                  <a:lnTo>
                    <a:pt x="7411" y="57371"/>
                  </a:lnTo>
                  <a:lnTo>
                    <a:pt x="0" y="93700"/>
                  </a:lnTo>
                  <a:lnTo>
                    <a:pt x="0" y="865720"/>
                  </a:lnTo>
                  <a:lnTo>
                    <a:pt x="7411" y="902050"/>
                  </a:lnTo>
                  <a:lnTo>
                    <a:pt x="27573" y="931849"/>
                  </a:lnTo>
                  <a:lnTo>
                    <a:pt x="57371" y="952010"/>
                  </a:lnTo>
                  <a:lnTo>
                    <a:pt x="93696" y="959421"/>
                  </a:lnTo>
                  <a:lnTo>
                    <a:pt x="2249893" y="959421"/>
                  </a:lnTo>
                  <a:lnTo>
                    <a:pt x="2286223" y="952010"/>
                  </a:lnTo>
                  <a:lnTo>
                    <a:pt x="2316022" y="931849"/>
                  </a:lnTo>
                  <a:lnTo>
                    <a:pt x="2336183" y="902050"/>
                  </a:lnTo>
                  <a:lnTo>
                    <a:pt x="2343594" y="865720"/>
                  </a:lnTo>
                  <a:lnTo>
                    <a:pt x="2343594" y="93700"/>
                  </a:lnTo>
                  <a:lnTo>
                    <a:pt x="2336183" y="57371"/>
                  </a:lnTo>
                  <a:lnTo>
                    <a:pt x="2316022" y="27571"/>
                  </a:lnTo>
                  <a:lnTo>
                    <a:pt x="2286223" y="7411"/>
                  </a:lnTo>
                  <a:lnTo>
                    <a:pt x="2249893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400132" y="1666354"/>
              <a:ext cx="2343785" cy="959485"/>
            </a:xfrm>
            <a:custGeom>
              <a:avLst/>
              <a:gdLst/>
              <a:ahLst/>
              <a:cxnLst/>
              <a:rect l="l" t="t" r="r" b="b"/>
              <a:pathLst>
                <a:path w="2343785" h="959485">
                  <a:moveTo>
                    <a:pt x="0" y="93700"/>
                  </a:moveTo>
                  <a:lnTo>
                    <a:pt x="7411" y="57371"/>
                  </a:lnTo>
                  <a:lnTo>
                    <a:pt x="27573" y="27571"/>
                  </a:lnTo>
                  <a:lnTo>
                    <a:pt x="57371" y="7411"/>
                  </a:lnTo>
                  <a:lnTo>
                    <a:pt x="93696" y="0"/>
                  </a:lnTo>
                  <a:lnTo>
                    <a:pt x="2249893" y="0"/>
                  </a:lnTo>
                  <a:lnTo>
                    <a:pt x="2286223" y="7411"/>
                  </a:lnTo>
                  <a:lnTo>
                    <a:pt x="2316022" y="27571"/>
                  </a:lnTo>
                  <a:lnTo>
                    <a:pt x="2336183" y="57371"/>
                  </a:lnTo>
                  <a:lnTo>
                    <a:pt x="2343594" y="93700"/>
                  </a:lnTo>
                  <a:lnTo>
                    <a:pt x="2343594" y="865720"/>
                  </a:lnTo>
                  <a:lnTo>
                    <a:pt x="2336183" y="902050"/>
                  </a:lnTo>
                  <a:lnTo>
                    <a:pt x="2316022" y="931849"/>
                  </a:lnTo>
                  <a:lnTo>
                    <a:pt x="2286223" y="952010"/>
                  </a:lnTo>
                  <a:lnTo>
                    <a:pt x="2249893" y="959421"/>
                  </a:lnTo>
                  <a:lnTo>
                    <a:pt x="93696" y="959421"/>
                  </a:lnTo>
                  <a:lnTo>
                    <a:pt x="57371" y="952010"/>
                  </a:lnTo>
                  <a:lnTo>
                    <a:pt x="27573" y="931849"/>
                  </a:lnTo>
                  <a:lnTo>
                    <a:pt x="7411" y="902050"/>
                  </a:lnTo>
                  <a:lnTo>
                    <a:pt x="0" y="865720"/>
                  </a:lnTo>
                  <a:lnTo>
                    <a:pt x="0" y="93700"/>
                  </a:lnTo>
                  <a:close/>
                </a:path>
              </a:pathLst>
            </a:custGeom>
            <a:ln w="4762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508997" y="1775218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20" h="312419">
                  <a:moveTo>
                    <a:pt x="156157" y="0"/>
                  </a:moveTo>
                  <a:lnTo>
                    <a:pt x="107021" y="8017"/>
                  </a:lnTo>
                  <a:lnTo>
                    <a:pt x="64182" y="30297"/>
                  </a:lnTo>
                  <a:lnTo>
                    <a:pt x="30295" y="64185"/>
                  </a:lnTo>
                  <a:lnTo>
                    <a:pt x="8016" y="107024"/>
                  </a:lnTo>
                  <a:lnTo>
                    <a:pt x="0" y="156159"/>
                  </a:lnTo>
                  <a:lnTo>
                    <a:pt x="8016" y="205293"/>
                  </a:lnTo>
                  <a:lnTo>
                    <a:pt x="30295" y="248133"/>
                  </a:lnTo>
                  <a:lnTo>
                    <a:pt x="64182" y="282020"/>
                  </a:lnTo>
                  <a:lnTo>
                    <a:pt x="107021" y="304301"/>
                  </a:lnTo>
                  <a:lnTo>
                    <a:pt x="156157" y="312318"/>
                  </a:lnTo>
                  <a:lnTo>
                    <a:pt x="205293" y="304301"/>
                  </a:lnTo>
                  <a:lnTo>
                    <a:pt x="248132" y="282020"/>
                  </a:lnTo>
                  <a:lnTo>
                    <a:pt x="282019" y="248133"/>
                  </a:lnTo>
                  <a:lnTo>
                    <a:pt x="304299" y="205293"/>
                  </a:lnTo>
                  <a:lnTo>
                    <a:pt x="312315" y="156159"/>
                  </a:lnTo>
                  <a:lnTo>
                    <a:pt x="304299" y="107024"/>
                  </a:lnTo>
                  <a:lnTo>
                    <a:pt x="282019" y="64185"/>
                  </a:lnTo>
                  <a:lnTo>
                    <a:pt x="248132" y="30297"/>
                  </a:lnTo>
                  <a:lnTo>
                    <a:pt x="205293" y="8017"/>
                  </a:lnTo>
                  <a:lnTo>
                    <a:pt x="156157" y="0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4874" y="1861096"/>
              <a:ext cx="140493" cy="140500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3496297" y="2077754"/>
            <a:ext cx="1106170" cy="42735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000">
                <a:latin typeface="Arial"/>
                <a:cs typeface="Arial"/>
              </a:rPr>
              <a:t>Kubernetes </a:t>
            </a:r>
            <a:r>
              <a:rPr dirty="0" sz="1000" spc="-10">
                <a:latin typeface="Arial"/>
                <a:cs typeface="Arial"/>
              </a:rPr>
              <a:t>Deploy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latin typeface="Arial"/>
                <a:cs typeface="Arial"/>
              </a:rPr>
              <a:t>Deploy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Kubernetes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817761" y="1663972"/>
            <a:ext cx="2357755" cy="973455"/>
            <a:chOff x="5817761" y="1663972"/>
            <a:chExt cx="2357755" cy="973455"/>
          </a:xfrm>
        </p:grpSpPr>
        <p:sp>
          <p:nvSpPr>
            <p:cNvPr id="26" name="object 26" descr=""/>
            <p:cNvSpPr/>
            <p:nvPr/>
          </p:nvSpPr>
          <p:spPr>
            <a:xfrm>
              <a:off x="5826747" y="1672958"/>
              <a:ext cx="2348865" cy="964565"/>
            </a:xfrm>
            <a:custGeom>
              <a:avLst/>
              <a:gdLst/>
              <a:ahLst/>
              <a:cxnLst/>
              <a:rect l="l" t="t" r="r" b="b"/>
              <a:pathLst>
                <a:path w="2348865" h="964564">
                  <a:moveTo>
                    <a:pt x="2254199" y="0"/>
                  </a:moveTo>
                  <a:lnTo>
                    <a:pt x="94161" y="0"/>
                  </a:lnTo>
                  <a:lnTo>
                    <a:pt x="57656" y="7448"/>
                  </a:lnTo>
                  <a:lnTo>
                    <a:pt x="27710" y="27709"/>
                  </a:lnTo>
                  <a:lnTo>
                    <a:pt x="7448" y="57655"/>
                  </a:lnTo>
                  <a:lnTo>
                    <a:pt x="0" y="94157"/>
                  </a:lnTo>
                  <a:lnTo>
                    <a:pt x="0" y="870026"/>
                  </a:lnTo>
                  <a:lnTo>
                    <a:pt x="7448" y="906528"/>
                  </a:lnTo>
                  <a:lnTo>
                    <a:pt x="27710" y="936474"/>
                  </a:lnTo>
                  <a:lnTo>
                    <a:pt x="57656" y="956735"/>
                  </a:lnTo>
                  <a:lnTo>
                    <a:pt x="94161" y="964184"/>
                  </a:lnTo>
                  <a:lnTo>
                    <a:pt x="2254199" y="964184"/>
                  </a:lnTo>
                  <a:lnTo>
                    <a:pt x="2290701" y="956735"/>
                  </a:lnTo>
                  <a:lnTo>
                    <a:pt x="2320647" y="936474"/>
                  </a:lnTo>
                  <a:lnTo>
                    <a:pt x="2340908" y="906528"/>
                  </a:lnTo>
                  <a:lnTo>
                    <a:pt x="2348357" y="870026"/>
                  </a:lnTo>
                  <a:lnTo>
                    <a:pt x="2348357" y="94157"/>
                  </a:lnTo>
                  <a:lnTo>
                    <a:pt x="2340908" y="57655"/>
                  </a:lnTo>
                  <a:lnTo>
                    <a:pt x="2320647" y="27709"/>
                  </a:lnTo>
                  <a:lnTo>
                    <a:pt x="2290701" y="7448"/>
                  </a:lnTo>
                  <a:lnTo>
                    <a:pt x="2254199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820143" y="1666354"/>
              <a:ext cx="2343785" cy="959485"/>
            </a:xfrm>
            <a:custGeom>
              <a:avLst/>
              <a:gdLst/>
              <a:ahLst/>
              <a:cxnLst/>
              <a:rect l="l" t="t" r="r" b="b"/>
              <a:pathLst>
                <a:path w="2343784" h="959485">
                  <a:moveTo>
                    <a:pt x="2249893" y="0"/>
                  </a:moveTo>
                  <a:lnTo>
                    <a:pt x="93696" y="0"/>
                  </a:lnTo>
                  <a:lnTo>
                    <a:pt x="57371" y="7411"/>
                  </a:lnTo>
                  <a:lnTo>
                    <a:pt x="27573" y="27571"/>
                  </a:lnTo>
                  <a:lnTo>
                    <a:pt x="7411" y="57371"/>
                  </a:lnTo>
                  <a:lnTo>
                    <a:pt x="0" y="93700"/>
                  </a:lnTo>
                  <a:lnTo>
                    <a:pt x="0" y="865720"/>
                  </a:lnTo>
                  <a:lnTo>
                    <a:pt x="7411" y="902050"/>
                  </a:lnTo>
                  <a:lnTo>
                    <a:pt x="27573" y="931849"/>
                  </a:lnTo>
                  <a:lnTo>
                    <a:pt x="57371" y="952010"/>
                  </a:lnTo>
                  <a:lnTo>
                    <a:pt x="93696" y="959421"/>
                  </a:lnTo>
                  <a:lnTo>
                    <a:pt x="2249893" y="959421"/>
                  </a:lnTo>
                  <a:lnTo>
                    <a:pt x="2286223" y="952010"/>
                  </a:lnTo>
                  <a:lnTo>
                    <a:pt x="2316022" y="931849"/>
                  </a:lnTo>
                  <a:lnTo>
                    <a:pt x="2336183" y="902050"/>
                  </a:lnTo>
                  <a:lnTo>
                    <a:pt x="2343594" y="865720"/>
                  </a:lnTo>
                  <a:lnTo>
                    <a:pt x="2343594" y="93700"/>
                  </a:lnTo>
                  <a:lnTo>
                    <a:pt x="2336183" y="57371"/>
                  </a:lnTo>
                  <a:lnTo>
                    <a:pt x="2316022" y="27571"/>
                  </a:lnTo>
                  <a:lnTo>
                    <a:pt x="2286223" y="7411"/>
                  </a:lnTo>
                  <a:lnTo>
                    <a:pt x="2249893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820143" y="1666354"/>
              <a:ext cx="2343785" cy="959485"/>
            </a:xfrm>
            <a:custGeom>
              <a:avLst/>
              <a:gdLst/>
              <a:ahLst/>
              <a:cxnLst/>
              <a:rect l="l" t="t" r="r" b="b"/>
              <a:pathLst>
                <a:path w="2343784" h="959485">
                  <a:moveTo>
                    <a:pt x="0" y="93700"/>
                  </a:moveTo>
                  <a:lnTo>
                    <a:pt x="7411" y="57371"/>
                  </a:lnTo>
                  <a:lnTo>
                    <a:pt x="27573" y="27571"/>
                  </a:lnTo>
                  <a:lnTo>
                    <a:pt x="57371" y="7411"/>
                  </a:lnTo>
                  <a:lnTo>
                    <a:pt x="93696" y="0"/>
                  </a:lnTo>
                  <a:lnTo>
                    <a:pt x="2249893" y="0"/>
                  </a:lnTo>
                  <a:lnTo>
                    <a:pt x="2286223" y="7411"/>
                  </a:lnTo>
                  <a:lnTo>
                    <a:pt x="2316022" y="27571"/>
                  </a:lnTo>
                  <a:lnTo>
                    <a:pt x="2336183" y="57371"/>
                  </a:lnTo>
                  <a:lnTo>
                    <a:pt x="2343594" y="93700"/>
                  </a:lnTo>
                  <a:lnTo>
                    <a:pt x="2343594" y="865720"/>
                  </a:lnTo>
                  <a:lnTo>
                    <a:pt x="2336183" y="902050"/>
                  </a:lnTo>
                  <a:lnTo>
                    <a:pt x="2316022" y="931849"/>
                  </a:lnTo>
                  <a:lnTo>
                    <a:pt x="2286223" y="952010"/>
                  </a:lnTo>
                  <a:lnTo>
                    <a:pt x="2249893" y="959421"/>
                  </a:lnTo>
                  <a:lnTo>
                    <a:pt x="93696" y="959421"/>
                  </a:lnTo>
                  <a:lnTo>
                    <a:pt x="57371" y="952010"/>
                  </a:lnTo>
                  <a:lnTo>
                    <a:pt x="27573" y="931849"/>
                  </a:lnTo>
                  <a:lnTo>
                    <a:pt x="7411" y="902050"/>
                  </a:lnTo>
                  <a:lnTo>
                    <a:pt x="0" y="865720"/>
                  </a:lnTo>
                  <a:lnTo>
                    <a:pt x="0" y="93700"/>
                  </a:lnTo>
                  <a:close/>
                </a:path>
              </a:pathLst>
            </a:custGeom>
            <a:ln w="4762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929020" y="1775218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20" h="312419">
                  <a:moveTo>
                    <a:pt x="156157" y="0"/>
                  </a:moveTo>
                  <a:lnTo>
                    <a:pt x="107021" y="8017"/>
                  </a:lnTo>
                  <a:lnTo>
                    <a:pt x="64182" y="30297"/>
                  </a:lnTo>
                  <a:lnTo>
                    <a:pt x="30295" y="64185"/>
                  </a:lnTo>
                  <a:lnTo>
                    <a:pt x="8016" y="107024"/>
                  </a:lnTo>
                  <a:lnTo>
                    <a:pt x="0" y="156159"/>
                  </a:lnTo>
                  <a:lnTo>
                    <a:pt x="8016" y="205293"/>
                  </a:lnTo>
                  <a:lnTo>
                    <a:pt x="30295" y="248133"/>
                  </a:lnTo>
                  <a:lnTo>
                    <a:pt x="64182" y="282020"/>
                  </a:lnTo>
                  <a:lnTo>
                    <a:pt x="107021" y="304301"/>
                  </a:lnTo>
                  <a:lnTo>
                    <a:pt x="156157" y="312318"/>
                  </a:lnTo>
                  <a:lnTo>
                    <a:pt x="205293" y="304301"/>
                  </a:lnTo>
                  <a:lnTo>
                    <a:pt x="248132" y="282020"/>
                  </a:lnTo>
                  <a:lnTo>
                    <a:pt x="282019" y="248133"/>
                  </a:lnTo>
                  <a:lnTo>
                    <a:pt x="304299" y="205293"/>
                  </a:lnTo>
                  <a:lnTo>
                    <a:pt x="312315" y="156159"/>
                  </a:lnTo>
                  <a:lnTo>
                    <a:pt x="304299" y="107024"/>
                  </a:lnTo>
                  <a:lnTo>
                    <a:pt x="282019" y="64185"/>
                  </a:lnTo>
                  <a:lnTo>
                    <a:pt x="248132" y="30297"/>
                  </a:lnTo>
                  <a:lnTo>
                    <a:pt x="205293" y="8017"/>
                  </a:lnTo>
                  <a:lnTo>
                    <a:pt x="156157" y="0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4885" y="1861096"/>
              <a:ext cx="140493" cy="140500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5916320" y="2077754"/>
            <a:ext cx="1797050" cy="42735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000">
                <a:latin typeface="Arial"/>
                <a:cs typeface="Arial"/>
              </a:rPr>
              <a:t>Helm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Management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800" spc="-10">
                <a:latin typeface="Arial"/>
                <a:cs typeface="Arial"/>
              </a:rPr>
              <a:t>Implement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Helm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package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management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977800" y="2699810"/>
            <a:ext cx="2357755" cy="1118235"/>
            <a:chOff x="977800" y="2699810"/>
            <a:chExt cx="2357755" cy="1118235"/>
          </a:xfrm>
        </p:grpSpPr>
        <p:sp>
          <p:nvSpPr>
            <p:cNvPr id="33" name="object 33" descr=""/>
            <p:cNvSpPr/>
            <p:nvPr/>
          </p:nvSpPr>
          <p:spPr>
            <a:xfrm>
              <a:off x="986781" y="2708795"/>
              <a:ext cx="2348865" cy="1108710"/>
            </a:xfrm>
            <a:custGeom>
              <a:avLst/>
              <a:gdLst/>
              <a:ahLst/>
              <a:cxnLst/>
              <a:rect l="l" t="t" r="r" b="b"/>
              <a:pathLst>
                <a:path w="2348865" h="1108710">
                  <a:moveTo>
                    <a:pt x="2254186" y="0"/>
                  </a:moveTo>
                  <a:lnTo>
                    <a:pt x="94099" y="0"/>
                  </a:lnTo>
                  <a:lnTo>
                    <a:pt x="57618" y="7444"/>
                  </a:lnTo>
                  <a:lnTo>
                    <a:pt x="27691" y="27692"/>
                  </a:lnTo>
                  <a:lnTo>
                    <a:pt x="7443" y="57617"/>
                  </a:lnTo>
                  <a:lnTo>
                    <a:pt x="0" y="94094"/>
                  </a:lnTo>
                  <a:lnTo>
                    <a:pt x="0" y="1014526"/>
                  </a:lnTo>
                  <a:lnTo>
                    <a:pt x="7443" y="1051003"/>
                  </a:lnTo>
                  <a:lnTo>
                    <a:pt x="27691" y="1080928"/>
                  </a:lnTo>
                  <a:lnTo>
                    <a:pt x="57618" y="1101176"/>
                  </a:lnTo>
                  <a:lnTo>
                    <a:pt x="94099" y="1108621"/>
                  </a:lnTo>
                  <a:lnTo>
                    <a:pt x="2254186" y="1108621"/>
                  </a:lnTo>
                  <a:lnTo>
                    <a:pt x="2290668" y="1101176"/>
                  </a:lnTo>
                  <a:lnTo>
                    <a:pt x="2320593" y="1080928"/>
                  </a:lnTo>
                  <a:lnTo>
                    <a:pt x="2340838" y="1051003"/>
                  </a:lnTo>
                  <a:lnTo>
                    <a:pt x="2348280" y="1014526"/>
                  </a:lnTo>
                  <a:lnTo>
                    <a:pt x="2348280" y="94094"/>
                  </a:lnTo>
                  <a:lnTo>
                    <a:pt x="2340838" y="57617"/>
                  </a:lnTo>
                  <a:lnTo>
                    <a:pt x="2320593" y="27692"/>
                  </a:lnTo>
                  <a:lnTo>
                    <a:pt x="2290668" y="7444"/>
                  </a:lnTo>
                  <a:lnTo>
                    <a:pt x="2254186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80182" y="2702191"/>
              <a:ext cx="2343785" cy="1104265"/>
            </a:xfrm>
            <a:custGeom>
              <a:avLst/>
              <a:gdLst/>
              <a:ahLst/>
              <a:cxnLst/>
              <a:rect l="l" t="t" r="r" b="b"/>
              <a:pathLst>
                <a:path w="2343785" h="1104264">
                  <a:moveTo>
                    <a:pt x="2249830" y="0"/>
                  </a:moveTo>
                  <a:lnTo>
                    <a:pt x="93695" y="0"/>
                  </a:lnTo>
                  <a:lnTo>
                    <a:pt x="57371" y="7411"/>
                  </a:lnTo>
                  <a:lnTo>
                    <a:pt x="27572" y="27571"/>
                  </a:lnTo>
                  <a:lnTo>
                    <a:pt x="7411" y="57371"/>
                  </a:lnTo>
                  <a:lnTo>
                    <a:pt x="0" y="93700"/>
                  </a:lnTo>
                  <a:lnTo>
                    <a:pt x="0" y="1010158"/>
                  </a:lnTo>
                  <a:lnTo>
                    <a:pt x="7411" y="1046487"/>
                  </a:lnTo>
                  <a:lnTo>
                    <a:pt x="27572" y="1076286"/>
                  </a:lnTo>
                  <a:lnTo>
                    <a:pt x="57371" y="1096447"/>
                  </a:lnTo>
                  <a:lnTo>
                    <a:pt x="93695" y="1103858"/>
                  </a:lnTo>
                  <a:lnTo>
                    <a:pt x="2249830" y="1103858"/>
                  </a:lnTo>
                  <a:lnTo>
                    <a:pt x="2286152" y="1096447"/>
                  </a:lnTo>
                  <a:lnTo>
                    <a:pt x="2315948" y="1076286"/>
                  </a:lnTo>
                  <a:lnTo>
                    <a:pt x="2336107" y="1046487"/>
                  </a:lnTo>
                  <a:lnTo>
                    <a:pt x="2343518" y="1010158"/>
                  </a:lnTo>
                  <a:lnTo>
                    <a:pt x="2343518" y="93700"/>
                  </a:lnTo>
                  <a:lnTo>
                    <a:pt x="2336107" y="57371"/>
                  </a:lnTo>
                  <a:lnTo>
                    <a:pt x="2315948" y="27571"/>
                  </a:lnTo>
                  <a:lnTo>
                    <a:pt x="2286152" y="7411"/>
                  </a:lnTo>
                  <a:lnTo>
                    <a:pt x="2249830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80182" y="2702191"/>
              <a:ext cx="2343785" cy="1104265"/>
            </a:xfrm>
            <a:custGeom>
              <a:avLst/>
              <a:gdLst/>
              <a:ahLst/>
              <a:cxnLst/>
              <a:rect l="l" t="t" r="r" b="b"/>
              <a:pathLst>
                <a:path w="2343785" h="1104264">
                  <a:moveTo>
                    <a:pt x="0" y="93700"/>
                  </a:moveTo>
                  <a:lnTo>
                    <a:pt x="7411" y="57371"/>
                  </a:lnTo>
                  <a:lnTo>
                    <a:pt x="27572" y="27571"/>
                  </a:lnTo>
                  <a:lnTo>
                    <a:pt x="57371" y="7411"/>
                  </a:lnTo>
                  <a:lnTo>
                    <a:pt x="93695" y="0"/>
                  </a:lnTo>
                  <a:lnTo>
                    <a:pt x="2249830" y="0"/>
                  </a:lnTo>
                  <a:lnTo>
                    <a:pt x="2286152" y="7411"/>
                  </a:lnTo>
                  <a:lnTo>
                    <a:pt x="2315948" y="27571"/>
                  </a:lnTo>
                  <a:lnTo>
                    <a:pt x="2336107" y="57371"/>
                  </a:lnTo>
                  <a:lnTo>
                    <a:pt x="2343518" y="93700"/>
                  </a:lnTo>
                  <a:lnTo>
                    <a:pt x="2343518" y="1010158"/>
                  </a:lnTo>
                  <a:lnTo>
                    <a:pt x="2336107" y="1046487"/>
                  </a:lnTo>
                  <a:lnTo>
                    <a:pt x="2315948" y="1076286"/>
                  </a:lnTo>
                  <a:lnTo>
                    <a:pt x="2286152" y="1096447"/>
                  </a:lnTo>
                  <a:lnTo>
                    <a:pt x="2249830" y="1103858"/>
                  </a:lnTo>
                  <a:lnTo>
                    <a:pt x="93695" y="1103858"/>
                  </a:lnTo>
                  <a:lnTo>
                    <a:pt x="57371" y="1096447"/>
                  </a:lnTo>
                  <a:lnTo>
                    <a:pt x="27572" y="1076286"/>
                  </a:lnTo>
                  <a:lnTo>
                    <a:pt x="7411" y="1046487"/>
                  </a:lnTo>
                  <a:lnTo>
                    <a:pt x="0" y="1010158"/>
                  </a:lnTo>
                  <a:lnTo>
                    <a:pt x="0" y="93700"/>
                  </a:lnTo>
                  <a:close/>
                </a:path>
              </a:pathLst>
            </a:custGeom>
            <a:ln w="4762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089049" y="2811068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19" h="312419">
                  <a:moveTo>
                    <a:pt x="156157" y="0"/>
                  </a:moveTo>
                  <a:lnTo>
                    <a:pt x="107021" y="8017"/>
                  </a:lnTo>
                  <a:lnTo>
                    <a:pt x="64182" y="30297"/>
                  </a:lnTo>
                  <a:lnTo>
                    <a:pt x="30295" y="64185"/>
                  </a:lnTo>
                  <a:lnTo>
                    <a:pt x="8016" y="107024"/>
                  </a:lnTo>
                  <a:lnTo>
                    <a:pt x="0" y="156159"/>
                  </a:lnTo>
                  <a:lnTo>
                    <a:pt x="8016" y="205293"/>
                  </a:lnTo>
                  <a:lnTo>
                    <a:pt x="30295" y="248133"/>
                  </a:lnTo>
                  <a:lnTo>
                    <a:pt x="64182" y="282020"/>
                  </a:lnTo>
                  <a:lnTo>
                    <a:pt x="107021" y="304301"/>
                  </a:lnTo>
                  <a:lnTo>
                    <a:pt x="156157" y="312318"/>
                  </a:lnTo>
                  <a:lnTo>
                    <a:pt x="205293" y="304301"/>
                  </a:lnTo>
                  <a:lnTo>
                    <a:pt x="248132" y="282020"/>
                  </a:lnTo>
                  <a:lnTo>
                    <a:pt x="282019" y="248133"/>
                  </a:lnTo>
                  <a:lnTo>
                    <a:pt x="304299" y="205293"/>
                  </a:lnTo>
                  <a:lnTo>
                    <a:pt x="312315" y="156159"/>
                  </a:lnTo>
                  <a:lnTo>
                    <a:pt x="304299" y="107024"/>
                  </a:lnTo>
                  <a:lnTo>
                    <a:pt x="282019" y="64185"/>
                  </a:lnTo>
                  <a:lnTo>
                    <a:pt x="248132" y="30297"/>
                  </a:lnTo>
                  <a:lnTo>
                    <a:pt x="205293" y="8017"/>
                  </a:lnTo>
                  <a:lnTo>
                    <a:pt x="156157" y="0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4923" y="2896933"/>
              <a:ext cx="140493" cy="140500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1076349" y="3113592"/>
            <a:ext cx="1849120" cy="56896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000" spc="-10">
                <a:latin typeface="Arial"/>
                <a:cs typeface="Arial"/>
              </a:rPr>
              <a:t>Monitoring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5999"/>
              </a:lnSpc>
              <a:spcBef>
                <a:spcPts val="295"/>
              </a:spcBef>
            </a:pPr>
            <a:r>
              <a:rPr dirty="0" sz="800" spc="-10">
                <a:latin typeface="Arial"/>
                <a:cs typeface="Arial"/>
              </a:rPr>
              <a:t>Configure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Monitoring </a:t>
            </a:r>
            <a:r>
              <a:rPr dirty="0" sz="800">
                <a:latin typeface="Arial"/>
                <a:cs typeface="Arial"/>
              </a:rPr>
              <a:t>with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Prometheus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50">
                <a:latin typeface="Arial"/>
                <a:cs typeface="Arial"/>
              </a:rPr>
              <a:t>&amp;</a:t>
            </a:r>
            <a:r>
              <a:rPr dirty="0" sz="800" spc="-10">
                <a:latin typeface="Arial"/>
                <a:cs typeface="Arial"/>
              </a:rPr>
              <a:t> Grafana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3397751" y="2699810"/>
            <a:ext cx="2357755" cy="1118235"/>
            <a:chOff x="3397751" y="2699810"/>
            <a:chExt cx="2357755" cy="1118235"/>
          </a:xfrm>
        </p:grpSpPr>
        <p:sp>
          <p:nvSpPr>
            <p:cNvPr id="40" name="object 40" descr=""/>
            <p:cNvSpPr/>
            <p:nvPr/>
          </p:nvSpPr>
          <p:spPr>
            <a:xfrm>
              <a:off x="3406724" y="2708795"/>
              <a:ext cx="2348865" cy="1108710"/>
            </a:xfrm>
            <a:custGeom>
              <a:avLst/>
              <a:gdLst/>
              <a:ahLst/>
              <a:cxnLst/>
              <a:rect l="l" t="t" r="r" b="b"/>
              <a:pathLst>
                <a:path w="2348865" h="1108710">
                  <a:moveTo>
                    <a:pt x="2254262" y="0"/>
                  </a:moveTo>
                  <a:lnTo>
                    <a:pt x="94099" y="0"/>
                  </a:lnTo>
                  <a:lnTo>
                    <a:pt x="57618" y="7444"/>
                  </a:lnTo>
                  <a:lnTo>
                    <a:pt x="27691" y="27692"/>
                  </a:lnTo>
                  <a:lnTo>
                    <a:pt x="7443" y="57617"/>
                  </a:lnTo>
                  <a:lnTo>
                    <a:pt x="0" y="94094"/>
                  </a:lnTo>
                  <a:lnTo>
                    <a:pt x="0" y="1014526"/>
                  </a:lnTo>
                  <a:lnTo>
                    <a:pt x="7443" y="1051003"/>
                  </a:lnTo>
                  <a:lnTo>
                    <a:pt x="27691" y="1080928"/>
                  </a:lnTo>
                  <a:lnTo>
                    <a:pt x="57618" y="1101176"/>
                  </a:lnTo>
                  <a:lnTo>
                    <a:pt x="94099" y="1108621"/>
                  </a:lnTo>
                  <a:lnTo>
                    <a:pt x="2254262" y="1108621"/>
                  </a:lnTo>
                  <a:lnTo>
                    <a:pt x="2290739" y="1101176"/>
                  </a:lnTo>
                  <a:lnTo>
                    <a:pt x="2320664" y="1080928"/>
                  </a:lnTo>
                  <a:lnTo>
                    <a:pt x="2340912" y="1051003"/>
                  </a:lnTo>
                  <a:lnTo>
                    <a:pt x="2348357" y="1014526"/>
                  </a:lnTo>
                  <a:lnTo>
                    <a:pt x="2348357" y="94094"/>
                  </a:lnTo>
                  <a:lnTo>
                    <a:pt x="2340912" y="57617"/>
                  </a:lnTo>
                  <a:lnTo>
                    <a:pt x="2320664" y="27692"/>
                  </a:lnTo>
                  <a:lnTo>
                    <a:pt x="2290739" y="7444"/>
                  </a:lnTo>
                  <a:lnTo>
                    <a:pt x="2254262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400132" y="2702191"/>
              <a:ext cx="2343785" cy="1104265"/>
            </a:xfrm>
            <a:custGeom>
              <a:avLst/>
              <a:gdLst/>
              <a:ahLst/>
              <a:cxnLst/>
              <a:rect l="l" t="t" r="r" b="b"/>
              <a:pathLst>
                <a:path w="2343785" h="1104264">
                  <a:moveTo>
                    <a:pt x="2249906" y="0"/>
                  </a:moveTo>
                  <a:lnTo>
                    <a:pt x="93695" y="0"/>
                  </a:lnTo>
                  <a:lnTo>
                    <a:pt x="57371" y="7411"/>
                  </a:lnTo>
                  <a:lnTo>
                    <a:pt x="27572" y="27571"/>
                  </a:lnTo>
                  <a:lnTo>
                    <a:pt x="7411" y="57371"/>
                  </a:lnTo>
                  <a:lnTo>
                    <a:pt x="0" y="93700"/>
                  </a:lnTo>
                  <a:lnTo>
                    <a:pt x="0" y="1010158"/>
                  </a:lnTo>
                  <a:lnTo>
                    <a:pt x="7411" y="1046487"/>
                  </a:lnTo>
                  <a:lnTo>
                    <a:pt x="27572" y="1076286"/>
                  </a:lnTo>
                  <a:lnTo>
                    <a:pt x="57371" y="1096447"/>
                  </a:lnTo>
                  <a:lnTo>
                    <a:pt x="93695" y="1103858"/>
                  </a:lnTo>
                  <a:lnTo>
                    <a:pt x="2249906" y="1103858"/>
                  </a:lnTo>
                  <a:lnTo>
                    <a:pt x="2286228" y="1096447"/>
                  </a:lnTo>
                  <a:lnTo>
                    <a:pt x="2316024" y="1076286"/>
                  </a:lnTo>
                  <a:lnTo>
                    <a:pt x="2336183" y="1046487"/>
                  </a:lnTo>
                  <a:lnTo>
                    <a:pt x="2343594" y="1010158"/>
                  </a:lnTo>
                  <a:lnTo>
                    <a:pt x="2343594" y="93700"/>
                  </a:lnTo>
                  <a:lnTo>
                    <a:pt x="2336183" y="57371"/>
                  </a:lnTo>
                  <a:lnTo>
                    <a:pt x="2316024" y="27571"/>
                  </a:lnTo>
                  <a:lnTo>
                    <a:pt x="2286228" y="7411"/>
                  </a:lnTo>
                  <a:lnTo>
                    <a:pt x="2249906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400132" y="2702191"/>
              <a:ext cx="2343785" cy="1104265"/>
            </a:xfrm>
            <a:custGeom>
              <a:avLst/>
              <a:gdLst/>
              <a:ahLst/>
              <a:cxnLst/>
              <a:rect l="l" t="t" r="r" b="b"/>
              <a:pathLst>
                <a:path w="2343785" h="1104264">
                  <a:moveTo>
                    <a:pt x="0" y="93700"/>
                  </a:moveTo>
                  <a:lnTo>
                    <a:pt x="7411" y="57371"/>
                  </a:lnTo>
                  <a:lnTo>
                    <a:pt x="27572" y="27571"/>
                  </a:lnTo>
                  <a:lnTo>
                    <a:pt x="57371" y="7411"/>
                  </a:lnTo>
                  <a:lnTo>
                    <a:pt x="93695" y="0"/>
                  </a:lnTo>
                  <a:lnTo>
                    <a:pt x="2249906" y="0"/>
                  </a:lnTo>
                  <a:lnTo>
                    <a:pt x="2286228" y="7411"/>
                  </a:lnTo>
                  <a:lnTo>
                    <a:pt x="2316024" y="27571"/>
                  </a:lnTo>
                  <a:lnTo>
                    <a:pt x="2336183" y="57371"/>
                  </a:lnTo>
                  <a:lnTo>
                    <a:pt x="2343594" y="93700"/>
                  </a:lnTo>
                  <a:lnTo>
                    <a:pt x="2343594" y="1010158"/>
                  </a:lnTo>
                  <a:lnTo>
                    <a:pt x="2336183" y="1046487"/>
                  </a:lnTo>
                  <a:lnTo>
                    <a:pt x="2316024" y="1076286"/>
                  </a:lnTo>
                  <a:lnTo>
                    <a:pt x="2286228" y="1096447"/>
                  </a:lnTo>
                  <a:lnTo>
                    <a:pt x="2249906" y="1103858"/>
                  </a:lnTo>
                  <a:lnTo>
                    <a:pt x="93695" y="1103858"/>
                  </a:lnTo>
                  <a:lnTo>
                    <a:pt x="57371" y="1096447"/>
                  </a:lnTo>
                  <a:lnTo>
                    <a:pt x="27572" y="1076286"/>
                  </a:lnTo>
                  <a:lnTo>
                    <a:pt x="7411" y="1046487"/>
                  </a:lnTo>
                  <a:lnTo>
                    <a:pt x="0" y="1010158"/>
                  </a:lnTo>
                  <a:lnTo>
                    <a:pt x="0" y="93700"/>
                  </a:lnTo>
                  <a:close/>
                </a:path>
              </a:pathLst>
            </a:custGeom>
            <a:ln w="4762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508997" y="2811068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20" h="312419">
                  <a:moveTo>
                    <a:pt x="156157" y="0"/>
                  </a:moveTo>
                  <a:lnTo>
                    <a:pt x="107021" y="8017"/>
                  </a:lnTo>
                  <a:lnTo>
                    <a:pt x="64182" y="30297"/>
                  </a:lnTo>
                  <a:lnTo>
                    <a:pt x="30295" y="64185"/>
                  </a:lnTo>
                  <a:lnTo>
                    <a:pt x="8016" y="107024"/>
                  </a:lnTo>
                  <a:lnTo>
                    <a:pt x="0" y="156159"/>
                  </a:lnTo>
                  <a:lnTo>
                    <a:pt x="8016" y="205293"/>
                  </a:lnTo>
                  <a:lnTo>
                    <a:pt x="30295" y="248133"/>
                  </a:lnTo>
                  <a:lnTo>
                    <a:pt x="64182" y="282020"/>
                  </a:lnTo>
                  <a:lnTo>
                    <a:pt x="107021" y="304301"/>
                  </a:lnTo>
                  <a:lnTo>
                    <a:pt x="156157" y="312318"/>
                  </a:lnTo>
                  <a:lnTo>
                    <a:pt x="205293" y="304301"/>
                  </a:lnTo>
                  <a:lnTo>
                    <a:pt x="248132" y="282020"/>
                  </a:lnTo>
                  <a:lnTo>
                    <a:pt x="282019" y="248133"/>
                  </a:lnTo>
                  <a:lnTo>
                    <a:pt x="304299" y="205293"/>
                  </a:lnTo>
                  <a:lnTo>
                    <a:pt x="312315" y="156159"/>
                  </a:lnTo>
                  <a:lnTo>
                    <a:pt x="304299" y="107024"/>
                  </a:lnTo>
                  <a:lnTo>
                    <a:pt x="282019" y="64185"/>
                  </a:lnTo>
                  <a:lnTo>
                    <a:pt x="248132" y="30297"/>
                  </a:lnTo>
                  <a:lnTo>
                    <a:pt x="205293" y="8017"/>
                  </a:lnTo>
                  <a:lnTo>
                    <a:pt x="156157" y="0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4874" y="2896933"/>
              <a:ext cx="140493" cy="140500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/>
          <p:nvPr/>
        </p:nvSpPr>
        <p:spPr>
          <a:xfrm>
            <a:off x="3496297" y="3113592"/>
            <a:ext cx="1889125" cy="56896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000">
                <a:latin typeface="Arial"/>
                <a:cs typeface="Arial"/>
              </a:rPr>
              <a:t>Centralized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Logging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5999"/>
              </a:lnSpc>
              <a:spcBef>
                <a:spcPts val="295"/>
              </a:spcBef>
            </a:pPr>
            <a:r>
              <a:rPr dirty="0" sz="800" spc="-10">
                <a:latin typeface="Arial"/>
                <a:cs typeface="Arial"/>
              </a:rPr>
              <a:t>Configure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Centralized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Logging</a:t>
            </a:r>
            <a:r>
              <a:rPr dirty="0" sz="800">
                <a:latin typeface="Arial"/>
                <a:cs typeface="Arial"/>
              </a:rPr>
              <a:t> using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ELK</a:t>
            </a:r>
            <a:r>
              <a:rPr dirty="0" sz="800" spc="-10">
                <a:latin typeface="Arial"/>
                <a:cs typeface="Arial"/>
              </a:rPr>
              <a:t> Stack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5817761" y="2699810"/>
            <a:ext cx="2357755" cy="1118235"/>
            <a:chOff x="5817761" y="2699810"/>
            <a:chExt cx="2357755" cy="1118235"/>
          </a:xfrm>
        </p:grpSpPr>
        <p:sp>
          <p:nvSpPr>
            <p:cNvPr id="47" name="object 47" descr=""/>
            <p:cNvSpPr/>
            <p:nvPr/>
          </p:nvSpPr>
          <p:spPr>
            <a:xfrm>
              <a:off x="5826747" y="2708795"/>
              <a:ext cx="2348865" cy="1108710"/>
            </a:xfrm>
            <a:custGeom>
              <a:avLst/>
              <a:gdLst/>
              <a:ahLst/>
              <a:cxnLst/>
              <a:rect l="l" t="t" r="r" b="b"/>
              <a:pathLst>
                <a:path w="2348865" h="1108710">
                  <a:moveTo>
                    <a:pt x="2254262" y="0"/>
                  </a:moveTo>
                  <a:lnTo>
                    <a:pt x="94099" y="0"/>
                  </a:lnTo>
                  <a:lnTo>
                    <a:pt x="57618" y="7444"/>
                  </a:lnTo>
                  <a:lnTo>
                    <a:pt x="27691" y="27692"/>
                  </a:lnTo>
                  <a:lnTo>
                    <a:pt x="7443" y="57617"/>
                  </a:lnTo>
                  <a:lnTo>
                    <a:pt x="0" y="94094"/>
                  </a:lnTo>
                  <a:lnTo>
                    <a:pt x="0" y="1014526"/>
                  </a:lnTo>
                  <a:lnTo>
                    <a:pt x="7443" y="1051003"/>
                  </a:lnTo>
                  <a:lnTo>
                    <a:pt x="27691" y="1080928"/>
                  </a:lnTo>
                  <a:lnTo>
                    <a:pt x="57618" y="1101176"/>
                  </a:lnTo>
                  <a:lnTo>
                    <a:pt x="94099" y="1108621"/>
                  </a:lnTo>
                  <a:lnTo>
                    <a:pt x="2254262" y="1108621"/>
                  </a:lnTo>
                  <a:lnTo>
                    <a:pt x="2290739" y="1101176"/>
                  </a:lnTo>
                  <a:lnTo>
                    <a:pt x="2320664" y="1080928"/>
                  </a:lnTo>
                  <a:lnTo>
                    <a:pt x="2340912" y="1051003"/>
                  </a:lnTo>
                  <a:lnTo>
                    <a:pt x="2348357" y="1014526"/>
                  </a:lnTo>
                  <a:lnTo>
                    <a:pt x="2348357" y="94094"/>
                  </a:lnTo>
                  <a:lnTo>
                    <a:pt x="2340912" y="57617"/>
                  </a:lnTo>
                  <a:lnTo>
                    <a:pt x="2320664" y="27692"/>
                  </a:lnTo>
                  <a:lnTo>
                    <a:pt x="2290739" y="7444"/>
                  </a:lnTo>
                  <a:lnTo>
                    <a:pt x="2254262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820143" y="2702191"/>
              <a:ext cx="2343785" cy="1104265"/>
            </a:xfrm>
            <a:custGeom>
              <a:avLst/>
              <a:gdLst/>
              <a:ahLst/>
              <a:cxnLst/>
              <a:rect l="l" t="t" r="r" b="b"/>
              <a:pathLst>
                <a:path w="2343784" h="1104264">
                  <a:moveTo>
                    <a:pt x="2249906" y="0"/>
                  </a:moveTo>
                  <a:lnTo>
                    <a:pt x="93695" y="0"/>
                  </a:lnTo>
                  <a:lnTo>
                    <a:pt x="57371" y="7411"/>
                  </a:lnTo>
                  <a:lnTo>
                    <a:pt x="27572" y="27571"/>
                  </a:lnTo>
                  <a:lnTo>
                    <a:pt x="7411" y="57371"/>
                  </a:lnTo>
                  <a:lnTo>
                    <a:pt x="0" y="93700"/>
                  </a:lnTo>
                  <a:lnTo>
                    <a:pt x="0" y="1010158"/>
                  </a:lnTo>
                  <a:lnTo>
                    <a:pt x="7411" y="1046487"/>
                  </a:lnTo>
                  <a:lnTo>
                    <a:pt x="27572" y="1076286"/>
                  </a:lnTo>
                  <a:lnTo>
                    <a:pt x="57371" y="1096447"/>
                  </a:lnTo>
                  <a:lnTo>
                    <a:pt x="93695" y="1103858"/>
                  </a:lnTo>
                  <a:lnTo>
                    <a:pt x="2249906" y="1103858"/>
                  </a:lnTo>
                  <a:lnTo>
                    <a:pt x="2286228" y="1096447"/>
                  </a:lnTo>
                  <a:lnTo>
                    <a:pt x="2316024" y="1076286"/>
                  </a:lnTo>
                  <a:lnTo>
                    <a:pt x="2336183" y="1046487"/>
                  </a:lnTo>
                  <a:lnTo>
                    <a:pt x="2343594" y="1010158"/>
                  </a:lnTo>
                  <a:lnTo>
                    <a:pt x="2343594" y="93700"/>
                  </a:lnTo>
                  <a:lnTo>
                    <a:pt x="2336183" y="57371"/>
                  </a:lnTo>
                  <a:lnTo>
                    <a:pt x="2316024" y="27571"/>
                  </a:lnTo>
                  <a:lnTo>
                    <a:pt x="2286228" y="7411"/>
                  </a:lnTo>
                  <a:lnTo>
                    <a:pt x="2249906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820143" y="2702191"/>
              <a:ext cx="2343785" cy="1104265"/>
            </a:xfrm>
            <a:custGeom>
              <a:avLst/>
              <a:gdLst/>
              <a:ahLst/>
              <a:cxnLst/>
              <a:rect l="l" t="t" r="r" b="b"/>
              <a:pathLst>
                <a:path w="2343784" h="1104264">
                  <a:moveTo>
                    <a:pt x="0" y="93700"/>
                  </a:moveTo>
                  <a:lnTo>
                    <a:pt x="7411" y="57371"/>
                  </a:lnTo>
                  <a:lnTo>
                    <a:pt x="27572" y="27571"/>
                  </a:lnTo>
                  <a:lnTo>
                    <a:pt x="57371" y="7411"/>
                  </a:lnTo>
                  <a:lnTo>
                    <a:pt x="93695" y="0"/>
                  </a:lnTo>
                  <a:lnTo>
                    <a:pt x="2249906" y="0"/>
                  </a:lnTo>
                  <a:lnTo>
                    <a:pt x="2286228" y="7411"/>
                  </a:lnTo>
                  <a:lnTo>
                    <a:pt x="2316024" y="27571"/>
                  </a:lnTo>
                  <a:lnTo>
                    <a:pt x="2336183" y="57371"/>
                  </a:lnTo>
                  <a:lnTo>
                    <a:pt x="2343594" y="93700"/>
                  </a:lnTo>
                  <a:lnTo>
                    <a:pt x="2343594" y="1010158"/>
                  </a:lnTo>
                  <a:lnTo>
                    <a:pt x="2336183" y="1046487"/>
                  </a:lnTo>
                  <a:lnTo>
                    <a:pt x="2316024" y="1076286"/>
                  </a:lnTo>
                  <a:lnTo>
                    <a:pt x="2286228" y="1096447"/>
                  </a:lnTo>
                  <a:lnTo>
                    <a:pt x="2249906" y="1103858"/>
                  </a:lnTo>
                  <a:lnTo>
                    <a:pt x="93695" y="1103858"/>
                  </a:lnTo>
                  <a:lnTo>
                    <a:pt x="57371" y="1096447"/>
                  </a:lnTo>
                  <a:lnTo>
                    <a:pt x="27572" y="1076286"/>
                  </a:lnTo>
                  <a:lnTo>
                    <a:pt x="7411" y="1046487"/>
                  </a:lnTo>
                  <a:lnTo>
                    <a:pt x="0" y="1010158"/>
                  </a:lnTo>
                  <a:lnTo>
                    <a:pt x="0" y="93700"/>
                  </a:lnTo>
                  <a:close/>
                </a:path>
              </a:pathLst>
            </a:custGeom>
            <a:ln w="4762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929020" y="2811068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20" h="312419">
                  <a:moveTo>
                    <a:pt x="156157" y="0"/>
                  </a:moveTo>
                  <a:lnTo>
                    <a:pt x="107021" y="8017"/>
                  </a:lnTo>
                  <a:lnTo>
                    <a:pt x="64182" y="30297"/>
                  </a:lnTo>
                  <a:lnTo>
                    <a:pt x="30295" y="64185"/>
                  </a:lnTo>
                  <a:lnTo>
                    <a:pt x="8016" y="107024"/>
                  </a:lnTo>
                  <a:lnTo>
                    <a:pt x="0" y="156159"/>
                  </a:lnTo>
                  <a:lnTo>
                    <a:pt x="8016" y="205293"/>
                  </a:lnTo>
                  <a:lnTo>
                    <a:pt x="30295" y="248133"/>
                  </a:lnTo>
                  <a:lnTo>
                    <a:pt x="64182" y="282020"/>
                  </a:lnTo>
                  <a:lnTo>
                    <a:pt x="107021" y="304301"/>
                  </a:lnTo>
                  <a:lnTo>
                    <a:pt x="156157" y="312318"/>
                  </a:lnTo>
                  <a:lnTo>
                    <a:pt x="205293" y="304301"/>
                  </a:lnTo>
                  <a:lnTo>
                    <a:pt x="248132" y="282020"/>
                  </a:lnTo>
                  <a:lnTo>
                    <a:pt x="282019" y="248133"/>
                  </a:lnTo>
                  <a:lnTo>
                    <a:pt x="304299" y="205293"/>
                  </a:lnTo>
                  <a:lnTo>
                    <a:pt x="312315" y="156159"/>
                  </a:lnTo>
                  <a:lnTo>
                    <a:pt x="304299" y="107024"/>
                  </a:lnTo>
                  <a:lnTo>
                    <a:pt x="282019" y="64185"/>
                  </a:lnTo>
                  <a:lnTo>
                    <a:pt x="248132" y="30297"/>
                  </a:lnTo>
                  <a:lnTo>
                    <a:pt x="205293" y="8017"/>
                  </a:lnTo>
                  <a:lnTo>
                    <a:pt x="156157" y="0"/>
                  </a:lnTo>
                  <a:close/>
                </a:path>
              </a:pathLst>
            </a:custGeom>
            <a:solidFill>
              <a:srgbClr val="A1B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4885" y="2896933"/>
              <a:ext cx="140493" cy="140500"/>
            </a:xfrm>
            <a:prstGeom prst="rect">
              <a:avLst/>
            </a:prstGeom>
          </p:spPr>
        </p:pic>
      </p:grpSp>
      <p:sp>
        <p:nvSpPr>
          <p:cNvPr id="52" name="object 52" descr=""/>
          <p:cNvSpPr txBox="1"/>
          <p:nvPr/>
        </p:nvSpPr>
        <p:spPr>
          <a:xfrm>
            <a:off x="5916320" y="3113592"/>
            <a:ext cx="1803400" cy="56896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000">
                <a:latin typeface="Arial"/>
                <a:cs typeface="Arial"/>
              </a:rPr>
              <a:t>Infrastructure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as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Code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5999"/>
              </a:lnSpc>
              <a:spcBef>
                <a:spcPts val="295"/>
              </a:spcBef>
            </a:pPr>
            <a:r>
              <a:rPr dirty="0" sz="800" spc="-10">
                <a:latin typeface="Arial"/>
                <a:cs typeface="Arial"/>
              </a:rPr>
              <a:t>Implement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Infrastructure</a:t>
            </a:r>
            <a:r>
              <a:rPr dirty="0" sz="800">
                <a:latin typeface="Arial"/>
                <a:cs typeface="Arial"/>
              </a:rPr>
              <a:t> as Code </a:t>
            </a:r>
            <a:r>
              <a:rPr dirty="0" sz="800" spc="-10">
                <a:latin typeface="Arial"/>
                <a:cs typeface="Arial"/>
              </a:rPr>
              <a:t>using Terraform</a:t>
            </a:r>
            <a:endParaRPr sz="800">
              <a:latin typeface="Arial"/>
              <a:cs typeface="Arial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076349" y="4293879"/>
            <a:ext cx="1967230" cy="42735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000">
                <a:latin typeface="Arial"/>
                <a:cs typeface="Arial"/>
              </a:rPr>
              <a:t>CI/CD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Pipeline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800" spc="-10">
                <a:latin typeface="Arial"/>
                <a:cs typeface="Arial"/>
              </a:rPr>
              <a:t>Automate deployment </a:t>
            </a:r>
            <a:r>
              <a:rPr dirty="0" sz="800">
                <a:latin typeface="Arial"/>
                <a:cs typeface="Arial"/>
              </a:rPr>
              <a:t>using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CI/CD</a:t>
            </a:r>
            <a:r>
              <a:rPr dirty="0" sz="800" spc="-10">
                <a:latin typeface="Arial"/>
                <a:cs typeface="Arial"/>
              </a:rPr>
              <a:t> pipeline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419" y="430857"/>
            <a:ext cx="3069590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Project</a:t>
            </a:r>
            <a:r>
              <a:rPr dirty="0" sz="2750" spc="-45"/>
              <a:t> </a:t>
            </a:r>
            <a:r>
              <a:rPr dirty="0" sz="2750" spc="-10"/>
              <a:t>Architecture</a:t>
            </a:r>
            <a:endParaRPr sz="2750"/>
          </a:p>
        </p:txBody>
      </p:sp>
      <p:sp>
        <p:nvSpPr>
          <p:cNvPr id="3" name="object 3" descr=""/>
          <p:cNvSpPr txBox="1"/>
          <p:nvPr/>
        </p:nvSpPr>
        <p:spPr>
          <a:xfrm>
            <a:off x="483419" y="932033"/>
            <a:ext cx="291211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3E6EF3"/>
                </a:solidFill>
                <a:latin typeface="Arial"/>
                <a:cs typeface="Arial"/>
              </a:rPr>
              <a:t>High</a:t>
            </a:r>
            <a:r>
              <a:rPr dirty="0" sz="2200" spc="-75">
                <a:solidFill>
                  <a:srgbClr val="3E6EF3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3E6EF3"/>
                </a:solidFill>
                <a:latin typeface="Arial"/>
                <a:cs typeface="Arial"/>
              </a:rPr>
              <a:t>Level</a:t>
            </a:r>
            <a:r>
              <a:rPr dirty="0" sz="2200" spc="-65">
                <a:solidFill>
                  <a:srgbClr val="3E6EF3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3E6EF3"/>
                </a:solidFill>
                <a:latin typeface="Arial"/>
                <a:cs typeface="Arial"/>
              </a:rPr>
              <a:t>Architecture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/>
              <a:t>This</a:t>
            </a:r>
            <a:r>
              <a:rPr dirty="0" spc="-25"/>
              <a:t> </a:t>
            </a:r>
            <a:r>
              <a:rPr dirty="0" spc="-10"/>
              <a:t>end-to-</a:t>
            </a:r>
            <a:r>
              <a:rPr dirty="0"/>
              <a:t>end</a:t>
            </a:r>
            <a:r>
              <a:rPr dirty="0" spc="-25"/>
              <a:t> </a:t>
            </a:r>
            <a:r>
              <a:rPr dirty="0"/>
              <a:t>DevOps</a:t>
            </a:r>
            <a:r>
              <a:rPr dirty="0" spc="-20"/>
              <a:t> </a:t>
            </a:r>
            <a:r>
              <a:rPr dirty="0"/>
              <a:t>pipeline</a:t>
            </a:r>
            <a:r>
              <a:rPr dirty="0" spc="-25"/>
              <a:t> </a:t>
            </a:r>
            <a:r>
              <a:rPr dirty="0"/>
              <a:t>flows</a:t>
            </a:r>
            <a:r>
              <a:rPr dirty="0" spc="-20"/>
              <a:t> </a:t>
            </a:r>
            <a:r>
              <a:rPr dirty="0"/>
              <a:t>from</a:t>
            </a:r>
            <a:r>
              <a:rPr dirty="0" spc="-25"/>
              <a:t> </a:t>
            </a:r>
            <a:r>
              <a:rPr dirty="0"/>
              <a:t>source</a:t>
            </a:r>
            <a:r>
              <a:rPr dirty="0" spc="-20"/>
              <a:t> code </a:t>
            </a:r>
            <a:r>
              <a:rPr dirty="0"/>
              <a:t>through</a:t>
            </a:r>
            <a:r>
              <a:rPr dirty="0" spc="-30"/>
              <a:t> </a:t>
            </a:r>
            <a:r>
              <a:rPr dirty="0" spc="-10"/>
              <a:t>containerization,</a:t>
            </a:r>
            <a:r>
              <a:rPr dirty="0" spc="-30"/>
              <a:t> </a:t>
            </a:r>
            <a:r>
              <a:rPr dirty="0"/>
              <a:t>orchestration,</a:t>
            </a:r>
            <a:r>
              <a:rPr dirty="0" spc="-30"/>
              <a:t> </a:t>
            </a:r>
            <a:r>
              <a:rPr dirty="0" spc="-10"/>
              <a:t>deployment, observability,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infrastructure</a:t>
            </a:r>
            <a:r>
              <a:rPr dirty="0" spc="-20"/>
              <a:t> </a:t>
            </a:r>
            <a:r>
              <a:rPr dirty="0" spc="-10"/>
              <a:t>provisioning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15"/>
              <a:t> </a:t>
            </a:r>
            <a:r>
              <a:rPr dirty="0"/>
              <a:t>creating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 spc="-10"/>
              <a:t>fully </a:t>
            </a:r>
            <a:r>
              <a:rPr dirty="0"/>
              <a:t>automated,</a:t>
            </a:r>
            <a:r>
              <a:rPr dirty="0" spc="-25"/>
              <a:t> </a:t>
            </a:r>
            <a:r>
              <a:rPr dirty="0"/>
              <a:t>production-ready</a:t>
            </a:r>
            <a:r>
              <a:rPr dirty="0" spc="-20"/>
              <a:t> </a:t>
            </a:r>
            <a:r>
              <a:rPr dirty="0" spc="-10"/>
              <a:t>environment.</a:t>
            </a:r>
          </a:p>
          <a:p>
            <a:pPr>
              <a:lnSpc>
                <a:spcPct val="100000"/>
              </a:lnSpc>
              <a:spcBef>
                <a:spcPts val="170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10" b="1">
                <a:latin typeface="Arial"/>
                <a:cs typeface="Arial"/>
              </a:rPr>
              <a:t>Components:</a:t>
            </a:r>
          </a:p>
          <a:p>
            <a:pPr>
              <a:lnSpc>
                <a:spcPct val="100000"/>
              </a:lnSpc>
              <a:spcBef>
                <a:spcPts val="330"/>
              </a:spcBef>
            </a:p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/>
              <a:t>Frontend</a:t>
            </a:r>
            <a:r>
              <a:rPr dirty="0" spc="-35"/>
              <a:t> </a:t>
            </a:r>
            <a:r>
              <a:rPr dirty="0" spc="-10"/>
              <a:t>Application</a:t>
            </a: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/>
              <a:t>Backend</a:t>
            </a:r>
            <a:r>
              <a:rPr dirty="0" spc="-70"/>
              <a:t> </a:t>
            </a:r>
            <a:r>
              <a:rPr dirty="0" spc="-25"/>
              <a:t>API</a:t>
            </a: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/>
              <a:t>Kubernetes</a:t>
            </a:r>
            <a:r>
              <a:rPr dirty="0" spc="-10"/>
              <a:t> Services</a:t>
            </a: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pc="-10"/>
              <a:t>Monitoring</a:t>
            </a:r>
            <a:r>
              <a:rPr dirty="0"/>
              <a:t> </a:t>
            </a:r>
            <a:r>
              <a:rPr dirty="0" spc="-10"/>
              <a:t>Stack</a:t>
            </a:r>
          </a:p>
          <a:p>
            <a:pPr marL="354965" indent="-342265">
              <a:lnSpc>
                <a:spcPct val="100000"/>
              </a:lnSpc>
              <a:spcBef>
                <a:spcPts val="439"/>
              </a:spcBef>
              <a:buChar char="•"/>
              <a:tabLst>
                <a:tab pos="354965" algn="l"/>
              </a:tabLst>
            </a:pPr>
            <a:r>
              <a:rPr dirty="0"/>
              <a:t>Logging</a:t>
            </a:r>
            <a:r>
              <a:rPr dirty="0" spc="-70"/>
              <a:t> </a:t>
            </a:r>
            <a:r>
              <a:rPr dirty="0" spc="-10"/>
              <a:t>Stack</a:t>
            </a: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/>
              <a:t>Terraform </a:t>
            </a:r>
            <a:r>
              <a:rPr dirty="0" spc="-10"/>
              <a:t>Infrastructure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9698" y="1875751"/>
            <a:ext cx="3902938" cy="21041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909" y="361880"/>
            <a:ext cx="3288029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/>
              <a:t>Docker </a:t>
            </a:r>
            <a:r>
              <a:rPr dirty="0" sz="2500" spc="-10"/>
              <a:t>Implementation</a:t>
            </a:r>
            <a:endParaRPr sz="2500"/>
          </a:p>
        </p:txBody>
      </p:sp>
      <p:sp>
        <p:nvSpPr>
          <p:cNvPr id="3" name="object 3" descr=""/>
          <p:cNvSpPr txBox="1"/>
          <p:nvPr/>
        </p:nvSpPr>
        <p:spPr>
          <a:xfrm>
            <a:off x="436909" y="707358"/>
            <a:ext cx="1858645" cy="68961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2000" spc="-10">
                <a:solidFill>
                  <a:srgbClr val="3E6EF3"/>
                </a:solidFill>
                <a:latin typeface="Arial"/>
                <a:cs typeface="Arial"/>
              </a:rPr>
              <a:t>Containerization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250">
                <a:solidFill>
                  <a:srgbClr val="3E6EF3"/>
                </a:solidFill>
                <a:latin typeface="Arial"/>
                <a:cs typeface="Arial"/>
              </a:rPr>
              <a:t>Backend</a:t>
            </a:r>
            <a:r>
              <a:rPr dirty="0" sz="1250" spc="-75">
                <a:solidFill>
                  <a:srgbClr val="3E6EF3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3E6EF3"/>
                </a:solidFill>
                <a:latin typeface="Arial"/>
                <a:cs typeface="Arial"/>
              </a:rPr>
              <a:t>Container</a:t>
            </a:r>
            <a:endParaRPr sz="12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36909" y="1515681"/>
            <a:ext cx="1885950" cy="231965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5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Node.js</a:t>
            </a:r>
            <a:r>
              <a:rPr dirty="0" sz="10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API</a:t>
            </a:r>
            <a:r>
              <a:rPr dirty="0" sz="10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Dockerfile</a:t>
            </a:r>
            <a:r>
              <a:rPr dirty="0" sz="1000" spc="-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created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Image</a:t>
            </a:r>
            <a:r>
              <a:rPr dirty="0" sz="10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built</a:t>
            </a:r>
            <a:r>
              <a:rPr dirty="0" sz="10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successfully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666666"/>
              </a:buClr>
              <a:buFont typeface="Arial"/>
              <a:buChar char="•"/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666666"/>
              </a:buClr>
              <a:buFont typeface="Arial"/>
              <a:buChar char="•"/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3E6EF3"/>
                </a:solidFill>
                <a:latin typeface="Arial"/>
                <a:cs typeface="Arial"/>
              </a:rPr>
              <a:t>Frontend</a:t>
            </a:r>
            <a:r>
              <a:rPr dirty="0" sz="1250" spc="-70">
                <a:solidFill>
                  <a:srgbClr val="3E6EF3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3E6EF3"/>
                </a:solidFill>
                <a:latin typeface="Arial"/>
                <a:cs typeface="Arial"/>
              </a:rPr>
              <a:t>Container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React/Frontend</a:t>
            </a:r>
            <a:r>
              <a:rPr dirty="0" sz="100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Dockerfile</a:t>
            </a:r>
            <a:r>
              <a:rPr dirty="0" sz="1000" spc="-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created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Image</a:t>
            </a:r>
            <a:r>
              <a:rPr dirty="0" sz="10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built</a:t>
            </a:r>
            <a:r>
              <a:rPr dirty="0" sz="10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successfully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 spc="-10">
                <a:solidFill>
                  <a:srgbClr val="3E6EF3"/>
                </a:solidFill>
                <a:latin typeface="Arial"/>
                <a:cs typeface="Arial"/>
              </a:rPr>
              <a:t>Achievements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321" y="4010317"/>
            <a:ext cx="2684932" cy="75187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22498" y="4036177"/>
            <a:ext cx="1882139" cy="54991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250" spc="-10">
                <a:solidFill>
                  <a:srgbClr val="666666"/>
                </a:solidFill>
                <a:latin typeface="Arial"/>
                <a:cs typeface="Arial"/>
              </a:rPr>
              <a:t>Reusable</a:t>
            </a:r>
            <a:r>
              <a:rPr dirty="0" sz="125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66666"/>
                </a:solidFill>
                <a:latin typeface="Arial"/>
                <a:cs typeface="Arial"/>
              </a:rPr>
              <a:t>Docker</a:t>
            </a:r>
            <a:r>
              <a:rPr dirty="0" sz="125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66666"/>
                </a:solidFill>
                <a:latin typeface="Arial"/>
                <a:cs typeface="Arial"/>
              </a:rPr>
              <a:t>Images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Created</a:t>
            </a:r>
            <a:r>
              <a:rPr dirty="0" sz="10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reusable</a:t>
            </a:r>
            <a:r>
              <a:rPr dirty="0" sz="10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Docker</a:t>
            </a:r>
            <a:r>
              <a:rPr dirty="0" sz="10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images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22345" y="4010317"/>
            <a:ext cx="2684932" cy="75187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409531" y="4036177"/>
            <a:ext cx="1592580" cy="54991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250">
                <a:solidFill>
                  <a:srgbClr val="666666"/>
                </a:solidFill>
                <a:latin typeface="Arial"/>
                <a:cs typeface="Arial"/>
              </a:rPr>
              <a:t>Verified</a:t>
            </a:r>
            <a:r>
              <a:rPr dirty="0" sz="1250" spc="-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66666"/>
                </a:solidFill>
                <a:latin typeface="Arial"/>
                <a:cs typeface="Arial"/>
              </a:rPr>
              <a:t>Execution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Verified</a:t>
            </a:r>
            <a:r>
              <a:rPr dirty="0" sz="10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container</a:t>
            </a:r>
            <a:r>
              <a:rPr dirty="0" sz="10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execution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9385" y="4010317"/>
            <a:ext cx="2684932" cy="751878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6196558" y="4036177"/>
            <a:ext cx="2205990" cy="54991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250">
                <a:solidFill>
                  <a:srgbClr val="666666"/>
                </a:solidFill>
                <a:latin typeface="Arial"/>
                <a:cs typeface="Arial"/>
              </a:rPr>
              <a:t>Image</a:t>
            </a:r>
            <a:r>
              <a:rPr dirty="0" sz="1250" spc="-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66666"/>
                </a:solidFill>
                <a:latin typeface="Arial"/>
                <a:cs typeface="Arial"/>
              </a:rPr>
              <a:t>Management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Docker</a:t>
            </a:r>
            <a:r>
              <a:rPr dirty="0" sz="10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image</a:t>
            </a:r>
            <a:r>
              <a:rPr dirty="0" sz="10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management</a:t>
            </a:r>
            <a:r>
              <a:rPr dirty="0" sz="10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completed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419" y="652104"/>
            <a:ext cx="3768090" cy="964565"/>
          </a:xfrm>
          <a:prstGeom prst="rect"/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2750"/>
              <a:t>Kubernetes</a:t>
            </a:r>
            <a:r>
              <a:rPr dirty="0" sz="2750" spc="-50"/>
              <a:t> </a:t>
            </a:r>
            <a:r>
              <a:rPr dirty="0" sz="2750" spc="-10"/>
              <a:t>Deployment</a:t>
            </a:r>
            <a:endParaRPr sz="2750"/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200"/>
              <a:t>Kubernetes</a:t>
            </a:r>
            <a:r>
              <a:rPr dirty="0" sz="2200" spc="-130"/>
              <a:t> </a:t>
            </a:r>
            <a:r>
              <a:rPr dirty="0" sz="2200" spc="-10"/>
              <a:t>Orchestration</a:t>
            </a:r>
            <a:endParaRPr sz="2200"/>
          </a:p>
        </p:txBody>
      </p:sp>
      <p:grpSp>
        <p:nvGrpSpPr>
          <p:cNvPr id="3" name="object 3" descr=""/>
          <p:cNvGrpSpPr/>
          <p:nvPr/>
        </p:nvGrpSpPr>
        <p:grpSpPr>
          <a:xfrm>
            <a:off x="493737" y="1839067"/>
            <a:ext cx="4022725" cy="1673225"/>
            <a:chOff x="493737" y="1839067"/>
            <a:chExt cx="4022725" cy="1673225"/>
          </a:xfrm>
        </p:grpSpPr>
        <p:sp>
          <p:nvSpPr>
            <p:cNvPr id="4" name="object 4" descr=""/>
            <p:cNvSpPr/>
            <p:nvPr/>
          </p:nvSpPr>
          <p:spPr>
            <a:xfrm>
              <a:off x="506309" y="1851634"/>
              <a:ext cx="4010025" cy="1660525"/>
            </a:xfrm>
            <a:custGeom>
              <a:avLst/>
              <a:gdLst/>
              <a:ahLst/>
              <a:cxnLst/>
              <a:rect l="l" t="t" r="r" b="b"/>
              <a:pathLst>
                <a:path w="4010025" h="1660525">
                  <a:moveTo>
                    <a:pt x="3881767" y="0"/>
                  </a:moveTo>
                  <a:lnTo>
                    <a:pt x="127955" y="0"/>
                  </a:lnTo>
                  <a:lnTo>
                    <a:pt x="78348" y="10121"/>
                  </a:lnTo>
                  <a:lnTo>
                    <a:pt x="37654" y="37653"/>
                  </a:lnTo>
                  <a:lnTo>
                    <a:pt x="10121" y="78347"/>
                  </a:lnTo>
                  <a:lnTo>
                    <a:pt x="0" y="127952"/>
                  </a:lnTo>
                  <a:lnTo>
                    <a:pt x="0" y="1532293"/>
                  </a:lnTo>
                  <a:lnTo>
                    <a:pt x="10121" y="1581900"/>
                  </a:lnTo>
                  <a:lnTo>
                    <a:pt x="37654" y="1622598"/>
                  </a:lnTo>
                  <a:lnTo>
                    <a:pt x="78348" y="1650134"/>
                  </a:lnTo>
                  <a:lnTo>
                    <a:pt x="127955" y="1660258"/>
                  </a:lnTo>
                  <a:lnTo>
                    <a:pt x="3881767" y="1660258"/>
                  </a:lnTo>
                  <a:lnTo>
                    <a:pt x="3931374" y="1650134"/>
                  </a:lnTo>
                  <a:lnTo>
                    <a:pt x="3972072" y="1622598"/>
                  </a:lnTo>
                  <a:lnTo>
                    <a:pt x="3999609" y="1581900"/>
                  </a:lnTo>
                  <a:lnTo>
                    <a:pt x="4009732" y="1532293"/>
                  </a:lnTo>
                  <a:lnTo>
                    <a:pt x="4009732" y="127952"/>
                  </a:lnTo>
                  <a:lnTo>
                    <a:pt x="3999609" y="78347"/>
                  </a:lnTo>
                  <a:lnTo>
                    <a:pt x="3972072" y="37653"/>
                  </a:lnTo>
                  <a:lnTo>
                    <a:pt x="3931374" y="10121"/>
                  </a:lnTo>
                  <a:lnTo>
                    <a:pt x="3881767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96119" y="1841449"/>
              <a:ext cx="4005579" cy="1656080"/>
            </a:xfrm>
            <a:custGeom>
              <a:avLst/>
              <a:gdLst/>
              <a:ahLst/>
              <a:cxnLst/>
              <a:rect l="l" t="t" r="r" b="b"/>
              <a:pathLst>
                <a:path w="4005579" h="1656079">
                  <a:moveTo>
                    <a:pt x="3877373" y="0"/>
                  </a:moveTo>
                  <a:lnTo>
                    <a:pt x="127588" y="0"/>
                  </a:lnTo>
                  <a:lnTo>
                    <a:pt x="78124" y="10092"/>
                  </a:lnTo>
                  <a:lnTo>
                    <a:pt x="37546" y="37545"/>
                  </a:lnTo>
                  <a:lnTo>
                    <a:pt x="10092" y="78122"/>
                  </a:lnTo>
                  <a:lnTo>
                    <a:pt x="0" y="127584"/>
                  </a:lnTo>
                  <a:lnTo>
                    <a:pt x="0" y="1527898"/>
                  </a:lnTo>
                  <a:lnTo>
                    <a:pt x="10092" y="1577362"/>
                  </a:lnTo>
                  <a:lnTo>
                    <a:pt x="37546" y="1617943"/>
                  </a:lnTo>
                  <a:lnTo>
                    <a:pt x="78124" y="1645401"/>
                  </a:lnTo>
                  <a:lnTo>
                    <a:pt x="127588" y="1655495"/>
                  </a:lnTo>
                  <a:lnTo>
                    <a:pt x="3877373" y="1655495"/>
                  </a:lnTo>
                  <a:lnTo>
                    <a:pt x="3926842" y="1645401"/>
                  </a:lnTo>
                  <a:lnTo>
                    <a:pt x="3967422" y="1617943"/>
                  </a:lnTo>
                  <a:lnTo>
                    <a:pt x="3994877" y="1577362"/>
                  </a:lnTo>
                  <a:lnTo>
                    <a:pt x="4004970" y="1527898"/>
                  </a:lnTo>
                  <a:lnTo>
                    <a:pt x="4004970" y="127584"/>
                  </a:lnTo>
                  <a:lnTo>
                    <a:pt x="3994877" y="78122"/>
                  </a:lnTo>
                  <a:lnTo>
                    <a:pt x="3967422" y="37545"/>
                  </a:lnTo>
                  <a:lnTo>
                    <a:pt x="3926842" y="10092"/>
                  </a:lnTo>
                  <a:lnTo>
                    <a:pt x="3877373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6119" y="1841449"/>
              <a:ext cx="4005579" cy="1656080"/>
            </a:xfrm>
            <a:custGeom>
              <a:avLst/>
              <a:gdLst/>
              <a:ahLst/>
              <a:cxnLst/>
              <a:rect l="l" t="t" r="r" b="b"/>
              <a:pathLst>
                <a:path w="4005579" h="1656079">
                  <a:moveTo>
                    <a:pt x="0" y="127584"/>
                  </a:moveTo>
                  <a:lnTo>
                    <a:pt x="10092" y="78122"/>
                  </a:lnTo>
                  <a:lnTo>
                    <a:pt x="37546" y="37545"/>
                  </a:lnTo>
                  <a:lnTo>
                    <a:pt x="78124" y="10092"/>
                  </a:lnTo>
                  <a:lnTo>
                    <a:pt x="127588" y="0"/>
                  </a:lnTo>
                  <a:lnTo>
                    <a:pt x="3877373" y="0"/>
                  </a:lnTo>
                  <a:lnTo>
                    <a:pt x="3926842" y="10092"/>
                  </a:lnTo>
                  <a:lnTo>
                    <a:pt x="3967422" y="37545"/>
                  </a:lnTo>
                  <a:lnTo>
                    <a:pt x="3994877" y="78122"/>
                  </a:lnTo>
                  <a:lnTo>
                    <a:pt x="4004970" y="127584"/>
                  </a:lnTo>
                  <a:lnTo>
                    <a:pt x="4004970" y="1527898"/>
                  </a:lnTo>
                  <a:lnTo>
                    <a:pt x="3994877" y="1577362"/>
                  </a:lnTo>
                  <a:lnTo>
                    <a:pt x="3967422" y="1617943"/>
                  </a:lnTo>
                  <a:lnTo>
                    <a:pt x="3926842" y="1645401"/>
                  </a:lnTo>
                  <a:lnTo>
                    <a:pt x="3877373" y="1655495"/>
                  </a:lnTo>
                  <a:lnTo>
                    <a:pt x="127588" y="1655495"/>
                  </a:lnTo>
                  <a:lnTo>
                    <a:pt x="78124" y="1645401"/>
                  </a:lnTo>
                  <a:lnTo>
                    <a:pt x="37546" y="1617943"/>
                  </a:lnTo>
                  <a:lnTo>
                    <a:pt x="10092" y="1577362"/>
                  </a:lnTo>
                  <a:lnTo>
                    <a:pt x="0" y="1527898"/>
                  </a:lnTo>
                  <a:lnTo>
                    <a:pt x="0" y="127584"/>
                  </a:lnTo>
                  <a:close/>
                </a:path>
              </a:pathLst>
            </a:custGeom>
            <a:ln w="4762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29940" y="1971636"/>
            <a:ext cx="15024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latin typeface="Arial"/>
                <a:cs typeface="Arial"/>
              </a:rPr>
              <a:t>Resources </a:t>
            </a:r>
            <a:r>
              <a:rPr dirty="0" sz="1350" spc="-10">
                <a:latin typeface="Arial"/>
                <a:cs typeface="Arial"/>
              </a:rPr>
              <a:t>Created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29940" y="2223503"/>
            <a:ext cx="1183640" cy="91757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5"/>
              </a:spcBef>
              <a:buChar char="•"/>
              <a:tabLst>
                <a:tab pos="354965" algn="l"/>
              </a:tabLst>
            </a:pPr>
            <a:r>
              <a:rPr dirty="0" sz="1100" spc="-10">
                <a:latin typeface="Arial"/>
                <a:cs typeface="Arial"/>
              </a:rPr>
              <a:t>Deployments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 spc="-10">
                <a:latin typeface="Arial"/>
                <a:cs typeface="Arial"/>
              </a:rPr>
              <a:t>Services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 spc="-10">
                <a:latin typeface="Arial"/>
                <a:cs typeface="Arial"/>
              </a:rPr>
              <a:t>ConfigMaps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 spc="-10">
                <a:latin typeface="Arial"/>
                <a:cs typeface="Arial"/>
              </a:rPr>
              <a:t>Secrets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640459" y="1839067"/>
            <a:ext cx="4022725" cy="1673225"/>
            <a:chOff x="4640459" y="1839067"/>
            <a:chExt cx="4022725" cy="1673225"/>
          </a:xfrm>
        </p:grpSpPr>
        <p:sp>
          <p:nvSpPr>
            <p:cNvPr id="10" name="object 10" descr=""/>
            <p:cNvSpPr/>
            <p:nvPr/>
          </p:nvSpPr>
          <p:spPr>
            <a:xfrm>
              <a:off x="4653038" y="1851634"/>
              <a:ext cx="4010025" cy="1660525"/>
            </a:xfrm>
            <a:custGeom>
              <a:avLst/>
              <a:gdLst/>
              <a:ahLst/>
              <a:cxnLst/>
              <a:rect l="l" t="t" r="r" b="b"/>
              <a:pathLst>
                <a:path w="4010025" h="1660525">
                  <a:moveTo>
                    <a:pt x="3881843" y="0"/>
                  </a:moveTo>
                  <a:lnTo>
                    <a:pt x="127955" y="0"/>
                  </a:lnTo>
                  <a:lnTo>
                    <a:pt x="78348" y="10121"/>
                  </a:lnTo>
                  <a:lnTo>
                    <a:pt x="37654" y="37653"/>
                  </a:lnTo>
                  <a:lnTo>
                    <a:pt x="10121" y="78347"/>
                  </a:lnTo>
                  <a:lnTo>
                    <a:pt x="0" y="127952"/>
                  </a:lnTo>
                  <a:lnTo>
                    <a:pt x="0" y="1532293"/>
                  </a:lnTo>
                  <a:lnTo>
                    <a:pt x="10121" y="1581900"/>
                  </a:lnTo>
                  <a:lnTo>
                    <a:pt x="37654" y="1622598"/>
                  </a:lnTo>
                  <a:lnTo>
                    <a:pt x="78348" y="1650134"/>
                  </a:lnTo>
                  <a:lnTo>
                    <a:pt x="127955" y="1660258"/>
                  </a:lnTo>
                  <a:lnTo>
                    <a:pt x="3881843" y="1660258"/>
                  </a:lnTo>
                  <a:lnTo>
                    <a:pt x="3931449" y="1650134"/>
                  </a:lnTo>
                  <a:lnTo>
                    <a:pt x="3972142" y="1622598"/>
                  </a:lnTo>
                  <a:lnTo>
                    <a:pt x="3999674" y="1581900"/>
                  </a:lnTo>
                  <a:lnTo>
                    <a:pt x="4009796" y="1532293"/>
                  </a:lnTo>
                  <a:lnTo>
                    <a:pt x="4009796" y="127952"/>
                  </a:lnTo>
                  <a:lnTo>
                    <a:pt x="3999674" y="78347"/>
                  </a:lnTo>
                  <a:lnTo>
                    <a:pt x="3972142" y="37653"/>
                  </a:lnTo>
                  <a:lnTo>
                    <a:pt x="3931449" y="10121"/>
                  </a:lnTo>
                  <a:lnTo>
                    <a:pt x="3881843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642840" y="1841449"/>
              <a:ext cx="4005579" cy="1656080"/>
            </a:xfrm>
            <a:custGeom>
              <a:avLst/>
              <a:gdLst/>
              <a:ahLst/>
              <a:cxnLst/>
              <a:rect l="l" t="t" r="r" b="b"/>
              <a:pathLst>
                <a:path w="4005579" h="1656079">
                  <a:moveTo>
                    <a:pt x="3877449" y="0"/>
                  </a:moveTo>
                  <a:lnTo>
                    <a:pt x="127588" y="0"/>
                  </a:lnTo>
                  <a:lnTo>
                    <a:pt x="78124" y="10092"/>
                  </a:lnTo>
                  <a:lnTo>
                    <a:pt x="37546" y="37545"/>
                  </a:lnTo>
                  <a:lnTo>
                    <a:pt x="10092" y="78122"/>
                  </a:lnTo>
                  <a:lnTo>
                    <a:pt x="0" y="127584"/>
                  </a:lnTo>
                  <a:lnTo>
                    <a:pt x="0" y="1527898"/>
                  </a:lnTo>
                  <a:lnTo>
                    <a:pt x="10092" y="1577362"/>
                  </a:lnTo>
                  <a:lnTo>
                    <a:pt x="37546" y="1617943"/>
                  </a:lnTo>
                  <a:lnTo>
                    <a:pt x="78124" y="1645401"/>
                  </a:lnTo>
                  <a:lnTo>
                    <a:pt x="127588" y="1655495"/>
                  </a:lnTo>
                  <a:lnTo>
                    <a:pt x="3877449" y="1655495"/>
                  </a:lnTo>
                  <a:lnTo>
                    <a:pt x="3926911" y="1645401"/>
                  </a:lnTo>
                  <a:lnTo>
                    <a:pt x="3967487" y="1617943"/>
                  </a:lnTo>
                  <a:lnTo>
                    <a:pt x="3994941" y="1577362"/>
                  </a:lnTo>
                  <a:lnTo>
                    <a:pt x="4005033" y="1527898"/>
                  </a:lnTo>
                  <a:lnTo>
                    <a:pt x="4005033" y="127584"/>
                  </a:lnTo>
                  <a:lnTo>
                    <a:pt x="3994941" y="78122"/>
                  </a:lnTo>
                  <a:lnTo>
                    <a:pt x="3967487" y="37545"/>
                  </a:lnTo>
                  <a:lnTo>
                    <a:pt x="3926911" y="10092"/>
                  </a:lnTo>
                  <a:lnTo>
                    <a:pt x="3877449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42840" y="1841449"/>
              <a:ext cx="4005579" cy="1656080"/>
            </a:xfrm>
            <a:custGeom>
              <a:avLst/>
              <a:gdLst/>
              <a:ahLst/>
              <a:cxnLst/>
              <a:rect l="l" t="t" r="r" b="b"/>
              <a:pathLst>
                <a:path w="4005579" h="1656079">
                  <a:moveTo>
                    <a:pt x="0" y="127584"/>
                  </a:moveTo>
                  <a:lnTo>
                    <a:pt x="10092" y="78122"/>
                  </a:lnTo>
                  <a:lnTo>
                    <a:pt x="37546" y="37545"/>
                  </a:lnTo>
                  <a:lnTo>
                    <a:pt x="78124" y="10092"/>
                  </a:lnTo>
                  <a:lnTo>
                    <a:pt x="127588" y="0"/>
                  </a:lnTo>
                  <a:lnTo>
                    <a:pt x="3877449" y="0"/>
                  </a:lnTo>
                  <a:lnTo>
                    <a:pt x="3926911" y="10092"/>
                  </a:lnTo>
                  <a:lnTo>
                    <a:pt x="3967487" y="37545"/>
                  </a:lnTo>
                  <a:lnTo>
                    <a:pt x="3994941" y="78122"/>
                  </a:lnTo>
                  <a:lnTo>
                    <a:pt x="4005033" y="127584"/>
                  </a:lnTo>
                  <a:lnTo>
                    <a:pt x="4005033" y="1527898"/>
                  </a:lnTo>
                  <a:lnTo>
                    <a:pt x="3994941" y="1577362"/>
                  </a:lnTo>
                  <a:lnTo>
                    <a:pt x="3967487" y="1617943"/>
                  </a:lnTo>
                  <a:lnTo>
                    <a:pt x="3926911" y="1645401"/>
                  </a:lnTo>
                  <a:lnTo>
                    <a:pt x="3877449" y="1655495"/>
                  </a:lnTo>
                  <a:lnTo>
                    <a:pt x="127588" y="1655495"/>
                  </a:lnTo>
                  <a:lnTo>
                    <a:pt x="78124" y="1645401"/>
                  </a:lnTo>
                  <a:lnTo>
                    <a:pt x="37546" y="1617943"/>
                  </a:lnTo>
                  <a:lnTo>
                    <a:pt x="10092" y="1577362"/>
                  </a:lnTo>
                  <a:lnTo>
                    <a:pt x="0" y="1527898"/>
                  </a:lnTo>
                  <a:lnTo>
                    <a:pt x="0" y="127584"/>
                  </a:lnTo>
                  <a:close/>
                </a:path>
              </a:pathLst>
            </a:custGeom>
            <a:ln w="4762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776660" y="1971636"/>
            <a:ext cx="17399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latin typeface="Arial"/>
                <a:cs typeface="Arial"/>
              </a:rPr>
              <a:t>Features</a:t>
            </a:r>
            <a:r>
              <a:rPr dirty="0" sz="1350" spc="-2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Implemented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776660" y="2223503"/>
            <a:ext cx="2131060" cy="91757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5"/>
              </a:spcBef>
              <a:buChar char="•"/>
              <a:tabLst>
                <a:tab pos="354965" algn="l"/>
              </a:tabLst>
            </a:pPr>
            <a:r>
              <a:rPr dirty="0" sz="1100">
                <a:latin typeface="Arial"/>
                <a:cs typeface="Arial"/>
              </a:rPr>
              <a:t>Multiple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Pod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Replicas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>
                <a:latin typeface="Arial"/>
                <a:cs typeface="Arial"/>
              </a:rPr>
              <a:t>Load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Balancing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>
                <a:latin typeface="Arial"/>
                <a:cs typeface="Arial"/>
              </a:rPr>
              <a:t>Health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Checks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 spc="-10">
                <a:latin typeface="Arial"/>
                <a:cs typeface="Arial"/>
              </a:rPr>
              <a:t>Resource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Requests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&amp;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Limits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96119" y="3656406"/>
            <a:ext cx="8152130" cy="553085"/>
            <a:chOff x="496119" y="3656406"/>
            <a:chExt cx="8152130" cy="553085"/>
          </a:xfrm>
        </p:grpSpPr>
        <p:sp>
          <p:nvSpPr>
            <p:cNvPr id="16" name="object 16" descr=""/>
            <p:cNvSpPr/>
            <p:nvPr/>
          </p:nvSpPr>
          <p:spPr>
            <a:xfrm>
              <a:off x="496119" y="3656406"/>
              <a:ext cx="8152130" cy="553085"/>
            </a:xfrm>
            <a:custGeom>
              <a:avLst/>
              <a:gdLst/>
              <a:ahLst/>
              <a:cxnLst/>
              <a:rect l="l" t="t" r="r" b="b"/>
              <a:pathLst>
                <a:path w="8152130" h="553085">
                  <a:moveTo>
                    <a:pt x="8024177" y="0"/>
                  </a:moveTo>
                  <a:lnTo>
                    <a:pt x="127590" y="0"/>
                  </a:lnTo>
                  <a:lnTo>
                    <a:pt x="78125" y="10092"/>
                  </a:lnTo>
                  <a:lnTo>
                    <a:pt x="37547" y="37545"/>
                  </a:lnTo>
                  <a:lnTo>
                    <a:pt x="10093" y="78122"/>
                  </a:lnTo>
                  <a:lnTo>
                    <a:pt x="0" y="127584"/>
                  </a:lnTo>
                  <a:lnTo>
                    <a:pt x="0" y="425157"/>
                  </a:lnTo>
                  <a:lnTo>
                    <a:pt x="10093" y="474619"/>
                  </a:lnTo>
                  <a:lnTo>
                    <a:pt x="37547" y="515196"/>
                  </a:lnTo>
                  <a:lnTo>
                    <a:pt x="78125" y="542649"/>
                  </a:lnTo>
                  <a:lnTo>
                    <a:pt x="127590" y="552742"/>
                  </a:lnTo>
                  <a:lnTo>
                    <a:pt x="8024177" y="552742"/>
                  </a:lnTo>
                  <a:lnTo>
                    <a:pt x="8073639" y="542649"/>
                  </a:lnTo>
                  <a:lnTo>
                    <a:pt x="8114215" y="515196"/>
                  </a:lnTo>
                  <a:lnTo>
                    <a:pt x="8141668" y="474619"/>
                  </a:lnTo>
                  <a:lnTo>
                    <a:pt x="8151761" y="425157"/>
                  </a:lnTo>
                  <a:lnTo>
                    <a:pt x="8151761" y="127584"/>
                  </a:lnTo>
                  <a:lnTo>
                    <a:pt x="8141668" y="78122"/>
                  </a:lnTo>
                  <a:lnTo>
                    <a:pt x="8114215" y="37545"/>
                  </a:lnTo>
                  <a:lnTo>
                    <a:pt x="8073639" y="10092"/>
                  </a:lnTo>
                  <a:lnTo>
                    <a:pt x="8024177" y="0"/>
                  </a:lnTo>
                  <a:close/>
                </a:path>
              </a:pathLst>
            </a:custGeom>
            <a:solidFill>
              <a:srgbClr val="B6FB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876" y="3857180"/>
              <a:ext cx="177180" cy="141757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944115" y="3803713"/>
            <a:ext cx="52660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Result: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Application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successfully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deployed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managed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through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Kubernetes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cluster.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419" y="1089139"/>
            <a:ext cx="4935220" cy="964565"/>
          </a:xfrm>
          <a:prstGeom prst="rect"/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2750"/>
              <a:t>Advanced</a:t>
            </a:r>
            <a:r>
              <a:rPr dirty="0" sz="2750" spc="-50"/>
              <a:t> </a:t>
            </a:r>
            <a:r>
              <a:rPr dirty="0" sz="2750"/>
              <a:t>Kubernetes</a:t>
            </a:r>
            <a:r>
              <a:rPr dirty="0" sz="2750" spc="-50"/>
              <a:t> </a:t>
            </a:r>
            <a:r>
              <a:rPr dirty="0" sz="2750" spc="-10"/>
              <a:t>Features</a:t>
            </a:r>
            <a:endParaRPr sz="2750"/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200"/>
              <a:t>Scalability</a:t>
            </a:r>
            <a:r>
              <a:rPr dirty="0" sz="2200" spc="-70"/>
              <a:t> </a:t>
            </a:r>
            <a:r>
              <a:rPr dirty="0" sz="2200"/>
              <a:t>&amp;</a:t>
            </a:r>
            <a:r>
              <a:rPr dirty="0" sz="2200" spc="-65"/>
              <a:t> </a:t>
            </a:r>
            <a:r>
              <a:rPr dirty="0" sz="2200" spc="-10"/>
              <a:t>Reliability</a:t>
            </a:r>
            <a:endParaRPr sz="2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119" y="2278481"/>
            <a:ext cx="354360" cy="35435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83419" y="2793695"/>
            <a:ext cx="2520950" cy="500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66666"/>
                </a:solidFill>
                <a:latin typeface="Arial"/>
                <a:cs typeface="Arial"/>
              </a:rPr>
              <a:t>Horizontal</a:t>
            </a:r>
            <a:r>
              <a:rPr dirty="0" sz="13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66666"/>
                </a:solidFill>
                <a:latin typeface="Arial"/>
                <a:cs typeface="Arial"/>
              </a:rPr>
              <a:t>Pod</a:t>
            </a:r>
            <a:r>
              <a:rPr dirty="0" sz="135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66666"/>
                </a:solidFill>
                <a:latin typeface="Arial"/>
                <a:cs typeface="Arial"/>
              </a:rPr>
              <a:t>Autoscaler</a:t>
            </a:r>
            <a:r>
              <a:rPr dirty="0" sz="135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666666"/>
                </a:solidFill>
                <a:latin typeface="Arial"/>
                <a:cs typeface="Arial"/>
              </a:rPr>
              <a:t>(HPA)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Automatic</a:t>
            </a:r>
            <a:r>
              <a:rPr dirty="0" sz="110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scaling</a:t>
            </a:r>
            <a:r>
              <a:rPr dirty="0" sz="110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based</a:t>
            </a:r>
            <a:r>
              <a:rPr dirty="0" sz="110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on</a:t>
            </a:r>
            <a:r>
              <a:rPr dirty="0" sz="110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CPU</a:t>
            </a:r>
            <a:r>
              <a:rPr dirty="0" sz="110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66666"/>
                </a:solidFill>
                <a:latin typeface="Arial"/>
                <a:cs typeface="Arial"/>
              </a:rPr>
              <a:t>usage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3419" y="3357422"/>
            <a:ext cx="1362075" cy="47180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5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Min</a:t>
            </a:r>
            <a:r>
              <a:rPr dirty="0" sz="11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66666"/>
                </a:solidFill>
                <a:latin typeface="Arial"/>
                <a:cs typeface="Arial"/>
              </a:rPr>
              <a:t>Replicas:</a:t>
            </a:r>
            <a:r>
              <a:rPr dirty="0" sz="11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666666"/>
                </a:solidFill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Max </a:t>
            </a:r>
            <a:r>
              <a:rPr dirty="0" sz="1100" spc="-10">
                <a:solidFill>
                  <a:srgbClr val="666666"/>
                </a:solidFill>
                <a:latin typeface="Arial"/>
                <a:cs typeface="Arial"/>
              </a:rPr>
              <a:t>Replicas:</a:t>
            </a:r>
            <a:r>
              <a:rPr dirty="0" sz="1100" spc="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666666"/>
                </a:solidFill>
                <a:latin typeface="Arial"/>
                <a:cs typeface="Arial"/>
              </a:rPr>
              <a:t>5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2434" y="2278481"/>
            <a:ext cx="354360" cy="35435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259734" y="2793695"/>
            <a:ext cx="1858010" cy="500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666666"/>
                </a:solidFill>
                <a:latin typeface="Arial"/>
                <a:cs typeface="Arial"/>
              </a:rPr>
              <a:t>CronJob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Automated</a:t>
            </a:r>
            <a:r>
              <a:rPr dirty="0" sz="1100" spc="-4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API</a:t>
            </a:r>
            <a:r>
              <a:rPr dirty="0" sz="110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health</a:t>
            </a:r>
            <a:r>
              <a:rPr dirty="0" sz="110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66666"/>
                </a:solidFill>
                <a:latin typeface="Arial"/>
                <a:cs typeface="Arial"/>
              </a:rPr>
              <a:t>checks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59734" y="3412744"/>
            <a:ext cx="23939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666666"/>
                </a:solidFill>
                <a:latin typeface="Arial"/>
                <a:cs typeface="Arial"/>
              </a:rPr>
              <a:t>Scheduled</a:t>
            </a:r>
            <a:r>
              <a:rPr dirty="0" sz="11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66666"/>
                </a:solidFill>
                <a:latin typeface="Arial"/>
                <a:cs typeface="Arial"/>
              </a:rPr>
              <a:t>execution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 every </a:t>
            </a:r>
            <a:r>
              <a:rPr dirty="0" sz="1100" b="1">
                <a:solidFill>
                  <a:srgbClr val="666666"/>
                </a:solidFill>
                <a:latin typeface="Arial"/>
                <a:cs typeface="Arial"/>
              </a:rPr>
              <a:t>5 </a:t>
            </a:r>
            <a:r>
              <a:rPr dirty="0" sz="1100" spc="-10" b="1">
                <a:solidFill>
                  <a:srgbClr val="666666"/>
                </a:solidFill>
                <a:latin typeface="Arial"/>
                <a:cs typeface="Arial"/>
              </a:rPr>
              <a:t>minutes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48743" y="2278481"/>
            <a:ext cx="354360" cy="35435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6036043" y="2793695"/>
            <a:ext cx="1515745" cy="500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66666"/>
                </a:solidFill>
                <a:latin typeface="Arial"/>
                <a:cs typeface="Arial"/>
              </a:rPr>
              <a:t>Ingress </a:t>
            </a:r>
            <a:r>
              <a:rPr dirty="0" sz="1350" spc="-10">
                <a:solidFill>
                  <a:srgbClr val="666666"/>
                </a:solidFill>
                <a:latin typeface="Arial"/>
                <a:cs typeface="Arial"/>
              </a:rPr>
              <a:t>Controller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NGINX</a:t>
            </a:r>
            <a:r>
              <a:rPr dirty="0" sz="110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Ingress</a:t>
            </a:r>
            <a:r>
              <a:rPr dirty="0" sz="11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66666"/>
                </a:solidFill>
                <a:latin typeface="Arial"/>
                <a:cs typeface="Arial"/>
              </a:rPr>
              <a:t>installed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036043" y="3412744"/>
            <a:ext cx="20612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Traffic</a:t>
            </a:r>
            <a:r>
              <a:rPr dirty="0" sz="11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66666"/>
                </a:solidFill>
                <a:latin typeface="Arial"/>
                <a:cs typeface="Arial"/>
              </a:rPr>
              <a:t>routing</a:t>
            </a:r>
            <a:r>
              <a:rPr dirty="0" sz="11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66666"/>
                </a:solidFill>
                <a:latin typeface="Arial"/>
                <a:cs typeface="Arial"/>
              </a:rPr>
              <a:t>configuration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550"/>
              <a:t>Monitoring</a:t>
            </a:r>
            <a:r>
              <a:rPr dirty="0" sz="2550" spc="-30"/>
              <a:t> </a:t>
            </a:r>
            <a:r>
              <a:rPr dirty="0" sz="2550"/>
              <a:t>with</a:t>
            </a:r>
            <a:r>
              <a:rPr dirty="0" sz="2550" spc="-15"/>
              <a:t> </a:t>
            </a:r>
            <a:r>
              <a:rPr dirty="0" sz="2550"/>
              <a:t>Prometheus</a:t>
            </a:r>
            <a:r>
              <a:rPr dirty="0" sz="2550" spc="-20"/>
              <a:t> </a:t>
            </a:r>
            <a:r>
              <a:rPr dirty="0" sz="2550"/>
              <a:t>&amp;</a:t>
            </a:r>
            <a:r>
              <a:rPr dirty="0" sz="2550" spc="-15"/>
              <a:t> </a:t>
            </a:r>
            <a:r>
              <a:rPr dirty="0" sz="2550" spc="-10"/>
              <a:t>Grafana</a:t>
            </a:r>
            <a:endParaRPr sz="2550"/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2050"/>
              <a:t>Observability</a:t>
            </a:r>
            <a:r>
              <a:rPr dirty="0" sz="2050" spc="-70"/>
              <a:t> </a:t>
            </a:r>
            <a:r>
              <a:rPr dirty="0" sz="2050" spc="-10"/>
              <a:t>Setup</a:t>
            </a:r>
            <a:endParaRPr sz="20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934" y="1684731"/>
            <a:ext cx="4770234" cy="242864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005614" y="1439341"/>
            <a:ext cx="1744345" cy="3157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3E6EF3"/>
                </a:solidFill>
                <a:latin typeface="Arial"/>
                <a:cs typeface="Arial"/>
              </a:rPr>
              <a:t>Prometheus</a:t>
            </a:r>
            <a:endParaRPr sz="12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060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Metrics</a:t>
            </a:r>
            <a:r>
              <a:rPr dirty="0" sz="100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collection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Kubernetes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monitoring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Resource</a:t>
            </a:r>
            <a:r>
              <a:rPr dirty="0" sz="100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tracking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buClr>
                <a:srgbClr val="666666"/>
              </a:buClr>
              <a:buFont typeface="Arial"/>
              <a:buChar char="•"/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 spc="-10">
                <a:solidFill>
                  <a:srgbClr val="3E6EF3"/>
                </a:solidFill>
                <a:latin typeface="Arial"/>
                <a:cs typeface="Arial"/>
              </a:rPr>
              <a:t>Grafana</a:t>
            </a:r>
            <a:endParaRPr sz="12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060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Dashboard</a:t>
            </a:r>
            <a:r>
              <a:rPr dirty="0" sz="1000" spc="-4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visualization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Performance</a:t>
            </a:r>
            <a:r>
              <a:rPr dirty="0" sz="1000" spc="-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monitoring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</a:tabLst>
            </a:pP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Real-</a:t>
            </a: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time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insights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25"/>
              </a:spcBef>
              <a:buClr>
                <a:srgbClr val="666666"/>
              </a:buClr>
              <a:buFont typeface="Arial"/>
              <a:buChar char="•"/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 spc="-10">
                <a:solidFill>
                  <a:srgbClr val="3E6EF3"/>
                </a:solidFill>
                <a:latin typeface="Arial"/>
                <a:cs typeface="Arial"/>
              </a:rPr>
              <a:t>Benefits</a:t>
            </a:r>
            <a:endParaRPr sz="12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060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dirty="0" sz="1000" spc="-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visibility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Infrastructure</a:t>
            </a:r>
            <a:r>
              <a:rPr dirty="0" sz="100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monitoring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666666"/>
                </a:solidFill>
                <a:latin typeface="Arial"/>
                <a:cs typeface="Arial"/>
              </a:rPr>
              <a:t>Performance</a:t>
            </a:r>
            <a:r>
              <a:rPr dirty="0" sz="1000" spc="-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"/>
                <a:cs typeface="Arial"/>
              </a:rPr>
              <a:t>analysis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105" rIns="0" bIns="0" rtlCol="0" vert="horz">
            <a:spAutoFit/>
          </a:bodyPr>
          <a:lstStyle/>
          <a:p>
            <a:pPr marL="459105">
              <a:lnSpc>
                <a:spcPct val="100000"/>
              </a:lnSpc>
              <a:spcBef>
                <a:spcPts val="615"/>
              </a:spcBef>
            </a:pPr>
            <a:r>
              <a:rPr dirty="0" sz="2050"/>
              <a:t>Centralized</a:t>
            </a:r>
            <a:r>
              <a:rPr dirty="0" sz="2050" spc="-35"/>
              <a:t> </a:t>
            </a:r>
            <a:r>
              <a:rPr dirty="0" sz="2050"/>
              <a:t>Logging</a:t>
            </a:r>
            <a:r>
              <a:rPr dirty="0" sz="2050" spc="-20"/>
              <a:t> </a:t>
            </a:r>
            <a:r>
              <a:rPr dirty="0" sz="2050"/>
              <a:t>with</a:t>
            </a:r>
            <a:r>
              <a:rPr dirty="0" sz="2050" spc="-25"/>
              <a:t> </a:t>
            </a:r>
            <a:r>
              <a:rPr dirty="0" sz="2050"/>
              <a:t>ELK</a:t>
            </a:r>
            <a:r>
              <a:rPr dirty="0" sz="2050" spc="-20"/>
              <a:t> </a:t>
            </a:r>
            <a:r>
              <a:rPr dirty="0" sz="2050" spc="-10"/>
              <a:t>Stack</a:t>
            </a:r>
            <a:endParaRPr sz="2050"/>
          </a:p>
          <a:p>
            <a:pPr marL="459105">
              <a:lnSpc>
                <a:spcPct val="100000"/>
              </a:lnSpc>
              <a:spcBef>
                <a:spcPts val="415"/>
              </a:spcBef>
            </a:pPr>
            <a:r>
              <a:rPr dirty="0" sz="1650"/>
              <a:t>Logging</a:t>
            </a:r>
            <a:r>
              <a:rPr dirty="0" sz="1650" spc="-30"/>
              <a:t> </a:t>
            </a:r>
            <a:r>
              <a:rPr dirty="0" sz="1650" spc="-10"/>
              <a:t>Solution</a:t>
            </a:r>
            <a:endParaRPr sz="16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58" y="1177230"/>
            <a:ext cx="3538461" cy="353846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693691" y="1871446"/>
            <a:ext cx="1690370" cy="160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3E6EF3"/>
                </a:solidFill>
                <a:latin typeface="Arial"/>
                <a:cs typeface="Arial"/>
              </a:rPr>
              <a:t>Elasticsearch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Log</a:t>
            </a:r>
            <a:r>
              <a:rPr dirty="0" sz="8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6666"/>
                </a:solidFill>
                <a:latin typeface="Arial"/>
                <a:cs typeface="Arial"/>
              </a:rPr>
              <a:t>storage</a:t>
            </a:r>
            <a:r>
              <a:rPr dirty="0" sz="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dirty="0" sz="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6666"/>
                </a:solidFill>
                <a:latin typeface="Arial"/>
                <a:cs typeface="Arial"/>
              </a:rPr>
              <a:t>indexing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000" spc="-10">
                <a:solidFill>
                  <a:srgbClr val="3E6EF3"/>
                </a:solidFill>
                <a:latin typeface="Arial"/>
                <a:cs typeface="Arial"/>
              </a:rPr>
              <a:t>Kibana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Log</a:t>
            </a:r>
            <a:r>
              <a:rPr dirty="0" sz="8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6666"/>
                </a:solidFill>
                <a:latin typeface="Arial"/>
                <a:cs typeface="Arial"/>
              </a:rPr>
              <a:t>visualization,</a:t>
            </a:r>
            <a:r>
              <a:rPr dirty="0" sz="8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search</a:t>
            </a:r>
            <a:r>
              <a:rPr dirty="0" sz="8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dirty="0" sz="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6666"/>
                </a:solidFill>
                <a:latin typeface="Arial"/>
                <a:cs typeface="Arial"/>
              </a:rPr>
              <a:t>filtering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000">
                <a:solidFill>
                  <a:srgbClr val="3E6EF3"/>
                </a:solidFill>
                <a:latin typeface="Arial"/>
                <a:cs typeface="Arial"/>
              </a:rPr>
              <a:t>Filebeat</a:t>
            </a:r>
            <a:r>
              <a:rPr dirty="0" sz="1000" spc="-10">
                <a:solidFill>
                  <a:srgbClr val="3E6EF3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6EF3"/>
                </a:solidFill>
                <a:latin typeface="Arial"/>
                <a:cs typeface="Arial"/>
              </a:rPr>
              <a:t>/</a:t>
            </a:r>
            <a:r>
              <a:rPr dirty="0" sz="1000" spc="-10">
                <a:solidFill>
                  <a:srgbClr val="3E6EF3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6EF3"/>
                </a:solidFill>
                <a:latin typeface="Arial"/>
                <a:cs typeface="Arial"/>
              </a:rPr>
              <a:t>Log</a:t>
            </a:r>
            <a:r>
              <a:rPr dirty="0" sz="1000" spc="-10">
                <a:solidFill>
                  <a:srgbClr val="3E6EF3"/>
                </a:solidFill>
                <a:latin typeface="Arial"/>
                <a:cs typeface="Arial"/>
              </a:rPr>
              <a:t> Collection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800" spc="-10">
                <a:solidFill>
                  <a:srgbClr val="666666"/>
                </a:solidFill>
                <a:latin typeface="Arial"/>
                <a:cs typeface="Arial"/>
              </a:rPr>
              <a:t>Centralized</a:t>
            </a:r>
            <a:r>
              <a:rPr dirty="0" sz="8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log </a:t>
            </a:r>
            <a:r>
              <a:rPr dirty="0" sz="800" spc="-10">
                <a:solidFill>
                  <a:srgbClr val="666666"/>
                </a:solidFill>
                <a:latin typeface="Arial"/>
                <a:cs typeface="Arial"/>
              </a:rPr>
              <a:t>forwarding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000" spc="-10">
                <a:solidFill>
                  <a:srgbClr val="3E6EF3"/>
                </a:solidFill>
                <a:latin typeface="Arial"/>
                <a:cs typeface="Arial"/>
              </a:rPr>
              <a:t>Benefits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93691" y="3520008"/>
            <a:ext cx="61594" cy="45339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800" spc="-50">
                <a:solidFill>
                  <a:srgbClr val="666666"/>
                </a:solidFill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800" spc="-50">
                <a:solidFill>
                  <a:srgbClr val="666666"/>
                </a:solidFill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800" spc="-50">
                <a:solidFill>
                  <a:srgbClr val="666666"/>
                </a:solidFill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36591" y="3520008"/>
            <a:ext cx="1323340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Easier</a:t>
            </a:r>
            <a:r>
              <a:rPr dirty="0" sz="8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6666"/>
                </a:solidFill>
                <a:latin typeface="Arial"/>
                <a:cs typeface="Arial"/>
              </a:rPr>
              <a:t>troubleshooting Centralized</a:t>
            </a:r>
            <a:r>
              <a:rPr dirty="0" sz="8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log </a:t>
            </a:r>
            <a:r>
              <a:rPr dirty="0" sz="800" spc="-10">
                <a:solidFill>
                  <a:srgbClr val="666666"/>
                </a:solidFill>
                <a:latin typeface="Arial"/>
                <a:cs typeface="Arial"/>
              </a:rPr>
              <a:t>management </a:t>
            </a: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Faster</a:t>
            </a:r>
            <a:r>
              <a:rPr dirty="0" sz="80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666666"/>
                </a:solidFill>
                <a:latin typeface="Arial"/>
                <a:cs typeface="Arial"/>
              </a:rPr>
              <a:t>issue</a:t>
            </a:r>
            <a:r>
              <a:rPr dirty="0" sz="80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666666"/>
                </a:solidFill>
                <a:latin typeface="Arial"/>
                <a:cs typeface="Arial"/>
              </a:rPr>
              <a:t>identification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8137" y="232421"/>
            <a:ext cx="1665605" cy="261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/>
              <a:t>Terraform</a:t>
            </a:r>
            <a:r>
              <a:rPr dirty="0" sz="1550" spc="-20"/>
              <a:t> </a:t>
            </a:r>
            <a:r>
              <a:rPr dirty="0" sz="1550"/>
              <a:t>&amp;</a:t>
            </a:r>
            <a:r>
              <a:rPr dirty="0" sz="1550" spc="-20"/>
              <a:t> </a:t>
            </a:r>
            <a:r>
              <a:rPr dirty="0" sz="1550" spc="-10"/>
              <a:t>CI/CD</a:t>
            </a:r>
            <a:endParaRPr sz="1550"/>
          </a:p>
        </p:txBody>
      </p:sp>
      <p:sp>
        <p:nvSpPr>
          <p:cNvPr id="3" name="object 3" descr=""/>
          <p:cNvSpPr txBox="1"/>
          <p:nvPr/>
        </p:nvSpPr>
        <p:spPr>
          <a:xfrm>
            <a:off x="1808137" y="500306"/>
            <a:ext cx="180657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3E6EF3"/>
                </a:solidFill>
                <a:latin typeface="Arial"/>
                <a:cs typeface="Arial"/>
              </a:rPr>
              <a:t>Infrastructure</a:t>
            </a:r>
            <a:r>
              <a:rPr dirty="0" sz="1250" spc="20">
                <a:solidFill>
                  <a:srgbClr val="3E6EF3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3E6EF3"/>
                </a:solidFill>
                <a:latin typeface="Arial"/>
                <a:cs typeface="Arial"/>
              </a:rPr>
              <a:t>Automation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750" spc="-10">
                <a:solidFill>
                  <a:srgbClr val="3E6EF3"/>
                </a:solidFill>
                <a:latin typeface="Arial"/>
                <a:cs typeface="Arial"/>
              </a:rPr>
              <a:t>Terraform</a:t>
            </a:r>
            <a:endParaRPr sz="7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08137" y="982835"/>
            <a:ext cx="527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666666"/>
                </a:solidFill>
                <a:latin typeface="Arial"/>
                <a:cs typeface="Arial"/>
              </a:rPr>
              <a:t>•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600" spc="-50">
                <a:solidFill>
                  <a:srgbClr val="666666"/>
                </a:solidFill>
                <a:latin typeface="Arial"/>
                <a:cs typeface="Arial"/>
              </a:rPr>
              <a:t>•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600" spc="-50">
                <a:solidFill>
                  <a:srgbClr val="666666"/>
                </a:solidFill>
                <a:latin typeface="Arial"/>
                <a:cs typeface="Arial"/>
              </a:rPr>
              <a:t>•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51037" y="982835"/>
            <a:ext cx="843280" cy="30734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4000"/>
              </a:lnSpc>
              <a:spcBef>
                <a:spcPts val="70"/>
              </a:spcBef>
            </a:pP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Infrastructure</a:t>
            </a:r>
            <a:r>
              <a:rPr dirty="0" sz="600" spc="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as</a:t>
            </a:r>
            <a:r>
              <a:rPr dirty="0" sz="600" spc="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666666"/>
                </a:solidFill>
                <a:latin typeface="Arial"/>
                <a:cs typeface="Arial"/>
              </a:rPr>
              <a:t>Code</a:t>
            </a:r>
            <a:r>
              <a:rPr dirty="0" sz="600" spc="50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Modular</a:t>
            </a:r>
            <a:r>
              <a:rPr dirty="0" sz="6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VPC</a:t>
            </a:r>
            <a:r>
              <a:rPr dirty="0" sz="6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structure</a:t>
            </a:r>
            <a:r>
              <a:rPr dirty="0" sz="600" spc="50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Reusable configurations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661318" y="812987"/>
            <a:ext cx="65024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E6EF3"/>
                </a:solidFill>
                <a:latin typeface="Arial"/>
                <a:cs typeface="Arial"/>
              </a:rPr>
              <a:t>CI/CD</a:t>
            </a:r>
            <a:r>
              <a:rPr dirty="0" sz="750" spc="-20">
                <a:solidFill>
                  <a:srgbClr val="3E6EF3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3E6EF3"/>
                </a:solidFill>
                <a:latin typeface="Arial"/>
                <a:cs typeface="Arial"/>
              </a:rPr>
              <a:t>Pipeline</a:t>
            </a:r>
            <a:endParaRPr sz="7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661318" y="982835"/>
            <a:ext cx="52705" cy="402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666666"/>
                </a:solidFill>
                <a:latin typeface="Arial"/>
                <a:cs typeface="Arial"/>
              </a:rPr>
              <a:t>•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600" spc="-50">
                <a:solidFill>
                  <a:srgbClr val="666666"/>
                </a:solidFill>
                <a:latin typeface="Arial"/>
                <a:cs typeface="Arial"/>
              </a:rPr>
              <a:t>•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600" spc="-50">
                <a:solidFill>
                  <a:srgbClr val="666666"/>
                </a:solidFill>
                <a:latin typeface="Arial"/>
                <a:cs typeface="Arial"/>
              </a:rPr>
              <a:t>•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600" spc="-50">
                <a:solidFill>
                  <a:srgbClr val="666666"/>
                </a:solidFill>
                <a:latin typeface="Arial"/>
                <a:cs typeface="Arial"/>
              </a:rPr>
              <a:t>•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04218" y="982835"/>
            <a:ext cx="1312545" cy="4025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4000"/>
              </a:lnSpc>
              <a:spcBef>
                <a:spcPts val="70"/>
              </a:spcBef>
            </a:pP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Source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Code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Management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 via</a:t>
            </a:r>
            <a:r>
              <a:rPr dirty="0" sz="600" spc="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GitHub</a:t>
            </a:r>
            <a:r>
              <a:rPr dirty="0" sz="600" spc="50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Automated</a:t>
            </a:r>
            <a:r>
              <a:rPr dirty="0" sz="600" spc="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Build</a:t>
            </a:r>
            <a:r>
              <a:rPr dirty="0" sz="600" spc="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478790">
              <a:lnSpc>
                <a:spcPct val="104000"/>
              </a:lnSpc>
            </a:pP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Docker</a:t>
            </a:r>
            <a:r>
              <a:rPr dirty="0" sz="60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Image</a:t>
            </a:r>
            <a:r>
              <a:rPr dirty="0" sz="60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Creation</a:t>
            </a:r>
            <a:r>
              <a:rPr dirty="0" sz="600" spc="50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Deployment</a:t>
            </a:r>
            <a:r>
              <a:rPr dirty="0" sz="600" spc="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Automation</a:t>
            </a:r>
            <a:endParaRPr sz="6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7598" y="1508963"/>
            <a:ext cx="4908804" cy="2682328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969003" y="2750540"/>
            <a:ext cx="7296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3E6EF3"/>
                </a:solidFill>
                <a:latin typeface="Arial"/>
                <a:cs typeface="Arial"/>
              </a:rPr>
              <a:t>Source</a:t>
            </a:r>
            <a:r>
              <a:rPr dirty="0" sz="950" spc="-25">
                <a:solidFill>
                  <a:srgbClr val="3E6EF3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3E6EF3"/>
                </a:solidFill>
                <a:latin typeface="Arial"/>
                <a:cs typeface="Arial"/>
              </a:rPr>
              <a:t>Code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059073" y="2733090"/>
            <a:ext cx="29400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3E6EF3"/>
                </a:solidFill>
                <a:latin typeface="Arial"/>
                <a:cs typeface="Arial"/>
              </a:rPr>
              <a:t>Build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602403" y="2738678"/>
            <a:ext cx="4013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3E6EF3"/>
                </a:solidFill>
                <a:latin typeface="Arial"/>
                <a:cs typeface="Arial"/>
              </a:rPr>
              <a:t>Deploy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808137" y="4227436"/>
            <a:ext cx="3328035" cy="306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This</a:t>
            </a:r>
            <a:r>
              <a:rPr dirty="0" sz="6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pipeline 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automates</a:t>
            </a:r>
            <a:r>
              <a:rPr dirty="0" sz="6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entire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delivery</a:t>
            </a:r>
            <a:r>
              <a:rPr dirty="0" sz="6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workflow 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dirty="0" sz="6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code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 commit 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dirty="0" sz="6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666666"/>
                </a:solidFill>
                <a:latin typeface="Arial"/>
                <a:cs typeface="Arial"/>
              </a:rPr>
              <a:t>Kubernetes</a:t>
            </a:r>
            <a:r>
              <a:rPr dirty="0" sz="600" spc="-10">
                <a:solidFill>
                  <a:srgbClr val="666666"/>
                </a:solidFill>
                <a:latin typeface="Arial"/>
                <a:cs typeface="Arial"/>
              </a:rPr>
              <a:t> deployment.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750" spc="-10">
                <a:solidFill>
                  <a:srgbClr val="3E6EF3"/>
                </a:solidFill>
                <a:latin typeface="Arial"/>
                <a:cs typeface="Arial"/>
              </a:rPr>
              <a:t>Benefits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818297" y="4598111"/>
            <a:ext cx="5514975" cy="306070"/>
            <a:chOff x="1818297" y="4598111"/>
            <a:chExt cx="5514975" cy="306070"/>
          </a:xfrm>
        </p:grpSpPr>
        <p:sp>
          <p:nvSpPr>
            <p:cNvPr id="15" name="object 15" descr=""/>
            <p:cNvSpPr/>
            <p:nvPr/>
          </p:nvSpPr>
          <p:spPr>
            <a:xfrm>
              <a:off x="1825637" y="4605451"/>
              <a:ext cx="5507355" cy="298450"/>
            </a:xfrm>
            <a:custGeom>
              <a:avLst/>
              <a:gdLst/>
              <a:ahLst/>
              <a:cxnLst/>
              <a:rect l="l" t="t" r="r" b="b"/>
              <a:pathLst>
                <a:path w="5507355" h="298450">
                  <a:moveTo>
                    <a:pt x="5434152" y="0"/>
                  </a:moveTo>
                  <a:lnTo>
                    <a:pt x="72934" y="0"/>
                  </a:lnTo>
                  <a:lnTo>
                    <a:pt x="44659" y="5768"/>
                  </a:lnTo>
                  <a:lnTo>
                    <a:pt x="21463" y="21461"/>
                  </a:lnTo>
                  <a:lnTo>
                    <a:pt x="5769" y="44657"/>
                  </a:lnTo>
                  <a:lnTo>
                    <a:pt x="0" y="72936"/>
                  </a:lnTo>
                  <a:lnTo>
                    <a:pt x="0" y="225386"/>
                  </a:lnTo>
                  <a:lnTo>
                    <a:pt x="5769" y="253665"/>
                  </a:lnTo>
                  <a:lnTo>
                    <a:pt x="21463" y="276861"/>
                  </a:lnTo>
                  <a:lnTo>
                    <a:pt x="44659" y="292554"/>
                  </a:lnTo>
                  <a:lnTo>
                    <a:pt x="72934" y="298323"/>
                  </a:lnTo>
                  <a:lnTo>
                    <a:pt x="5434152" y="298323"/>
                  </a:lnTo>
                  <a:lnTo>
                    <a:pt x="5462430" y="292554"/>
                  </a:lnTo>
                  <a:lnTo>
                    <a:pt x="5485626" y="276861"/>
                  </a:lnTo>
                  <a:lnTo>
                    <a:pt x="5501319" y="253665"/>
                  </a:lnTo>
                  <a:lnTo>
                    <a:pt x="5507088" y="225386"/>
                  </a:lnTo>
                  <a:lnTo>
                    <a:pt x="5507088" y="72936"/>
                  </a:lnTo>
                  <a:lnTo>
                    <a:pt x="5501319" y="44657"/>
                  </a:lnTo>
                  <a:lnTo>
                    <a:pt x="5485626" y="21461"/>
                  </a:lnTo>
                  <a:lnTo>
                    <a:pt x="5462430" y="5768"/>
                  </a:lnTo>
                  <a:lnTo>
                    <a:pt x="5434152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820837" y="4600651"/>
              <a:ext cx="5502910" cy="294005"/>
            </a:xfrm>
            <a:custGeom>
              <a:avLst/>
              <a:gdLst/>
              <a:ahLst/>
              <a:cxnLst/>
              <a:rect l="l" t="t" r="r" b="b"/>
              <a:pathLst>
                <a:path w="5502909" h="294004">
                  <a:moveTo>
                    <a:pt x="5430558" y="0"/>
                  </a:moveTo>
                  <a:lnTo>
                    <a:pt x="71769" y="0"/>
                  </a:lnTo>
                  <a:lnTo>
                    <a:pt x="43945" y="5677"/>
                  </a:lnTo>
                  <a:lnTo>
                    <a:pt x="21120" y="21120"/>
                  </a:lnTo>
                  <a:lnTo>
                    <a:pt x="5677" y="43944"/>
                  </a:lnTo>
                  <a:lnTo>
                    <a:pt x="0" y="71767"/>
                  </a:lnTo>
                  <a:lnTo>
                    <a:pt x="0" y="221792"/>
                  </a:lnTo>
                  <a:lnTo>
                    <a:pt x="5677" y="249615"/>
                  </a:lnTo>
                  <a:lnTo>
                    <a:pt x="21120" y="272440"/>
                  </a:lnTo>
                  <a:lnTo>
                    <a:pt x="43945" y="287883"/>
                  </a:lnTo>
                  <a:lnTo>
                    <a:pt x="71769" y="293560"/>
                  </a:lnTo>
                  <a:lnTo>
                    <a:pt x="5430558" y="293560"/>
                  </a:lnTo>
                  <a:lnTo>
                    <a:pt x="5458381" y="287883"/>
                  </a:lnTo>
                  <a:lnTo>
                    <a:pt x="5481205" y="272440"/>
                  </a:lnTo>
                  <a:lnTo>
                    <a:pt x="5496648" y="249615"/>
                  </a:lnTo>
                  <a:lnTo>
                    <a:pt x="5502325" y="221792"/>
                  </a:lnTo>
                  <a:lnTo>
                    <a:pt x="5502325" y="71767"/>
                  </a:lnTo>
                  <a:lnTo>
                    <a:pt x="5496648" y="43944"/>
                  </a:lnTo>
                  <a:lnTo>
                    <a:pt x="5481205" y="21120"/>
                  </a:lnTo>
                  <a:lnTo>
                    <a:pt x="5458381" y="5677"/>
                  </a:lnTo>
                  <a:lnTo>
                    <a:pt x="5430558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820837" y="4600651"/>
              <a:ext cx="5502910" cy="294005"/>
            </a:xfrm>
            <a:custGeom>
              <a:avLst/>
              <a:gdLst/>
              <a:ahLst/>
              <a:cxnLst/>
              <a:rect l="l" t="t" r="r" b="b"/>
              <a:pathLst>
                <a:path w="5502909" h="294004">
                  <a:moveTo>
                    <a:pt x="0" y="71767"/>
                  </a:moveTo>
                  <a:lnTo>
                    <a:pt x="5677" y="43944"/>
                  </a:lnTo>
                  <a:lnTo>
                    <a:pt x="21120" y="21120"/>
                  </a:lnTo>
                  <a:lnTo>
                    <a:pt x="43945" y="5677"/>
                  </a:lnTo>
                  <a:lnTo>
                    <a:pt x="71769" y="0"/>
                  </a:lnTo>
                  <a:lnTo>
                    <a:pt x="5430558" y="0"/>
                  </a:lnTo>
                  <a:lnTo>
                    <a:pt x="5458381" y="5677"/>
                  </a:lnTo>
                  <a:lnTo>
                    <a:pt x="5481205" y="21120"/>
                  </a:lnTo>
                  <a:lnTo>
                    <a:pt x="5496648" y="43944"/>
                  </a:lnTo>
                  <a:lnTo>
                    <a:pt x="5502325" y="71767"/>
                  </a:lnTo>
                  <a:lnTo>
                    <a:pt x="5502325" y="221792"/>
                  </a:lnTo>
                  <a:lnTo>
                    <a:pt x="5496648" y="249615"/>
                  </a:lnTo>
                  <a:lnTo>
                    <a:pt x="5481205" y="272440"/>
                  </a:lnTo>
                  <a:lnTo>
                    <a:pt x="5458381" y="287883"/>
                  </a:lnTo>
                  <a:lnTo>
                    <a:pt x="5430558" y="293560"/>
                  </a:lnTo>
                  <a:lnTo>
                    <a:pt x="71769" y="293560"/>
                  </a:lnTo>
                  <a:lnTo>
                    <a:pt x="43945" y="287883"/>
                  </a:lnTo>
                  <a:lnTo>
                    <a:pt x="21120" y="272440"/>
                  </a:lnTo>
                  <a:lnTo>
                    <a:pt x="5677" y="249615"/>
                  </a:lnTo>
                  <a:lnTo>
                    <a:pt x="0" y="221792"/>
                  </a:lnTo>
                  <a:lnTo>
                    <a:pt x="0" y="71767"/>
                  </a:lnTo>
                  <a:close/>
                </a:path>
              </a:pathLst>
            </a:custGeom>
            <a:ln w="4762">
              <a:solidFill>
                <a:srgbClr val="B5C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825599" y="4605413"/>
              <a:ext cx="1831339" cy="284480"/>
            </a:xfrm>
            <a:custGeom>
              <a:avLst/>
              <a:gdLst/>
              <a:ahLst/>
              <a:cxnLst/>
              <a:rect l="l" t="t" r="r" b="b"/>
              <a:pathLst>
                <a:path w="1831339" h="284479">
                  <a:moveTo>
                    <a:pt x="1759115" y="0"/>
                  </a:moveTo>
                  <a:lnTo>
                    <a:pt x="71770" y="0"/>
                  </a:lnTo>
                  <a:lnTo>
                    <a:pt x="43946" y="5677"/>
                  </a:lnTo>
                  <a:lnTo>
                    <a:pt x="21120" y="21120"/>
                  </a:lnTo>
                  <a:lnTo>
                    <a:pt x="5677" y="43944"/>
                  </a:lnTo>
                  <a:lnTo>
                    <a:pt x="0" y="71767"/>
                  </a:lnTo>
                  <a:lnTo>
                    <a:pt x="0" y="212267"/>
                  </a:lnTo>
                  <a:lnTo>
                    <a:pt x="5677" y="240090"/>
                  </a:lnTo>
                  <a:lnTo>
                    <a:pt x="21120" y="262915"/>
                  </a:lnTo>
                  <a:lnTo>
                    <a:pt x="43946" y="278358"/>
                  </a:lnTo>
                  <a:lnTo>
                    <a:pt x="71770" y="284035"/>
                  </a:lnTo>
                  <a:lnTo>
                    <a:pt x="1759115" y="284035"/>
                  </a:lnTo>
                  <a:lnTo>
                    <a:pt x="1786938" y="278358"/>
                  </a:lnTo>
                  <a:lnTo>
                    <a:pt x="1809762" y="262915"/>
                  </a:lnTo>
                  <a:lnTo>
                    <a:pt x="1825205" y="240090"/>
                  </a:lnTo>
                  <a:lnTo>
                    <a:pt x="1830882" y="212267"/>
                  </a:lnTo>
                  <a:lnTo>
                    <a:pt x="1830882" y="71767"/>
                  </a:lnTo>
                  <a:lnTo>
                    <a:pt x="1825205" y="43944"/>
                  </a:lnTo>
                  <a:lnTo>
                    <a:pt x="1809762" y="21120"/>
                  </a:lnTo>
                  <a:lnTo>
                    <a:pt x="1786938" y="5677"/>
                  </a:lnTo>
                  <a:lnTo>
                    <a:pt x="1759115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892592" y="4670387"/>
            <a:ext cx="87820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Faster </a:t>
            </a:r>
            <a:r>
              <a:rPr dirty="0" sz="750" spc="-10">
                <a:latin typeface="Arial"/>
                <a:cs typeface="Arial"/>
              </a:rPr>
              <a:t>Deployments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656482" y="4605413"/>
            <a:ext cx="1831339" cy="284480"/>
            <a:chOff x="3656482" y="4605413"/>
            <a:chExt cx="1831339" cy="284480"/>
          </a:xfrm>
        </p:grpSpPr>
        <p:sp>
          <p:nvSpPr>
            <p:cNvPr id="21" name="object 21" descr=""/>
            <p:cNvSpPr/>
            <p:nvPr/>
          </p:nvSpPr>
          <p:spPr>
            <a:xfrm>
              <a:off x="3656482" y="4605413"/>
              <a:ext cx="1831339" cy="284480"/>
            </a:xfrm>
            <a:custGeom>
              <a:avLst/>
              <a:gdLst/>
              <a:ahLst/>
              <a:cxnLst/>
              <a:rect l="l" t="t" r="r" b="b"/>
              <a:pathLst>
                <a:path w="1831339" h="284479">
                  <a:moveTo>
                    <a:pt x="1830958" y="0"/>
                  </a:moveTo>
                  <a:lnTo>
                    <a:pt x="0" y="0"/>
                  </a:lnTo>
                  <a:lnTo>
                    <a:pt x="0" y="284035"/>
                  </a:lnTo>
                  <a:lnTo>
                    <a:pt x="1830958" y="284035"/>
                  </a:lnTo>
                  <a:lnTo>
                    <a:pt x="1830958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656482" y="4605413"/>
              <a:ext cx="9525" cy="284480"/>
            </a:xfrm>
            <a:custGeom>
              <a:avLst/>
              <a:gdLst/>
              <a:ahLst/>
              <a:cxnLst/>
              <a:rect l="l" t="t" r="r" b="b"/>
              <a:pathLst>
                <a:path w="9525" h="284479">
                  <a:moveTo>
                    <a:pt x="7375" y="0"/>
                  </a:moveTo>
                  <a:lnTo>
                    <a:pt x="2149" y="0"/>
                  </a:lnTo>
                  <a:lnTo>
                    <a:pt x="0" y="2146"/>
                  </a:lnTo>
                  <a:lnTo>
                    <a:pt x="0" y="4762"/>
                  </a:lnTo>
                  <a:lnTo>
                    <a:pt x="0" y="281889"/>
                  </a:lnTo>
                  <a:lnTo>
                    <a:pt x="2149" y="284035"/>
                  </a:lnTo>
                  <a:lnTo>
                    <a:pt x="7375" y="284035"/>
                  </a:lnTo>
                  <a:lnTo>
                    <a:pt x="9524" y="281889"/>
                  </a:lnTo>
                  <a:lnTo>
                    <a:pt x="9524" y="2146"/>
                  </a:lnTo>
                  <a:lnTo>
                    <a:pt x="7375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3723475" y="4670387"/>
            <a:ext cx="106235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Consistent</a:t>
            </a:r>
            <a:r>
              <a:rPr dirty="0" sz="750" spc="-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Infrastructure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5487441" y="4605413"/>
            <a:ext cx="1831339" cy="284480"/>
            <a:chOff x="5487441" y="4605413"/>
            <a:chExt cx="1831339" cy="284480"/>
          </a:xfrm>
        </p:grpSpPr>
        <p:sp>
          <p:nvSpPr>
            <p:cNvPr id="25" name="object 25" descr=""/>
            <p:cNvSpPr/>
            <p:nvPr/>
          </p:nvSpPr>
          <p:spPr>
            <a:xfrm>
              <a:off x="5487441" y="4605413"/>
              <a:ext cx="1831339" cy="284480"/>
            </a:xfrm>
            <a:custGeom>
              <a:avLst/>
              <a:gdLst/>
              <a:ahLst/>
              <a:cxnLst/>
              <a:rect l="l" t="t" r="r" b="b"/>
              <a:pathLst>
                <a:path w="1831340" h="284479">
                  <a:moveTo>
                    <a:pt x="1830958" y="0"/>
                  </a:moveTo>
                  <a:lnTo>
                    <a:pt x="0" y="0"/>
                  </a:lnTo>
                  <a:lnTo>
                    <a:pt x="0" y="284035"/>
                  </a:lnTo>
                  <a:lnTo>
                    <a:pt x="1830958" y="284035"/>
                  </a:lnTo>
                  <a:lnTo>
                    <a:pt x="1830958" y="0"/>
                  </a:lnTo>
                  <a:close/>
                </a:path>
              </a:pathLst>
            </a:custGeom>
            <a:solidFill>
              <a:srgbClr val="CF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487441" y="4605413"/>
              <a:ext cx="9525" cy="284480"/>
            </a:xfrm>
            <a:custGeom>
              <a:avLst/>
              <a:gdLst/>
              <a:ahLst/>
              <a:cxnLst/>
              <a:rect l="l" t="t" r="r" b="b"/>
              <a:pathLst>
                <a:path w="9525" h="284479">
                  <a:moveTo>
                    <a:pt x="7375" y="0"/>
                  </a:moveTo>
                  <a:lnTo>
                    <a:pt x="2149" y="0"/>
                  </a:lnTo>
                  <a:lnTo>
                    <a:pt x="0" y="2146"/>
                  </a:lnTo>
                  <a:lnTo>
                    <a:pt x="0" y="4762"/>
                  </a:lnTo>
                  <a:lnTo>
                    <a:pt x="0" y="281889"/>
                  </a:lnTo>
                  <a:lnTo>
                    <a:pt x="2149" y="284035"/>
                  </a:lnTo>
                  <a:lnTo>
                    <a:pt x="7375" y="284035"/>
                  </a:lnTo>
                  <a:lnTo>
                    <a:pt x="9524" y="281889"/>
                  </a:lnTo>
                  <a:lnTo>
                    <a:pt x="9524" y="2146"/>
                  </a:lnTo>
                  <a:lnTo>
                    <a:pt x="7375" y="0"/>
                  </a:lnTo>
                  <a:close/>
                </a:path>
              </a:pathLst>
            </a:custGeom>
            <a:solidFill>
              <a:srgbClr val="B5C1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5554433" y="4670387"/>
            <a:ext cx="9994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Reduced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Manual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Effort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3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35"/>
              </a:spcBef>
            </a:pPr>
            <a:r>
              <a:rPr dirty="0" spc="-10"/>
              <a:t>Challenges,</a:t>
            </a:r>
            <a:r>
              <a:rPr dirty="0" spc="-60"/>
              <a:t> </a:t>
            </a:r>
            <a:r>
              <a:rPr dirty="0"/>
              <a:t>Learnings</a:t>
            </a:r>
            <a:r>
              <a:rPr dirty="0" spc="-55"/>
              <a:t> </a:t>
            </a:r>
            <a:r>
              <a:rPr dirty="0"/>
              <a:t>&amp;</a:t>
            </a:r>
            <a:r>
              <a:rPr dirty="0" spc="-55"/>
              <a:t> </a:t>
            </a:r>
            <a:r>
              <a:rPr dirty="0" spc="-10"/>
              <a:t>Conclusion</a:t>
            </a: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dirty="0" sz="1900"/>
              <a:t>Challenges</a:t>
            </a:r>
            <a:r>
              <a:rPr dirty="0" sz="1900" spc="-100"/>
              <a:t> </a:t>
            </a:r>
            <a:r>
              <a:rPr dirty="0" sz="1900" spc="-10"/>
              <a:t>Faced</a:t>
            </a:r>
            <a:endParaRPr sz="19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393" y="1271066"/>
            <a:ext cx="2693936" cy="166122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49795" y="1644713"/>
            <a:ext cx="2322830" cy="111506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150">
                <a:solidFill>
                  <a:srgbClr val="666666"/>
                </a:solidFill>
                <a:latin typeface="Arial"/>
                <a:cs typeface="Arial"/>
              </a:rPr>
              <a:t>Docker</a:t>
            </a:r>
            <a:r>
              <a:rPr dirty="0" sz="115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66666"/>
                </a:solidFill>
                <a:latin typeface="Arial"/>
                <a:cs typeface="Arial"/>
              </a:rPr>
              <a:t>Daemon</a:t>
            </a:r>
            <a:r>
              <a:rPr dirty="0" sz="115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66666"/>
                </a:solidFill>
                <a:latin typeface="Arial"/>
                <a:cs typeface="Arial"/>
              </a:rPr>
              <a:t>Connection</a:t>
            </a:r>
            <a:r>
              <a:rPr dirty="0" sz="11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666666"/>
                </a:solidFill>
                <a:latin typeface="Arial"/>
                <a:cs typeface="Arial"/>
              </a:rPr>
              <a:t>Issues</a:t>
            </a:r>
            <a:endParaRPr sz="1150">
              <a:latin typeface="Arial"/>
              <a:cs typeface="Arial"/>
            </a:endParaRPr>
          </a:p>
          <a:p>
            <a:pPr marL="12700" marR="88900">
              <a:lnSpc>
                <a:spcPct val="124000"/>
              </a:lnSpc>
              <a:spcBef>
                <a:spcPts val="345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Docker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daemon</a:t>
            </a:r>
            <a:r>
              <a:rPr dirty="0" sz="95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connection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issues</a:t>
            </a:r>
            <a:r>
              <a:rPr dirty="0" sz="95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during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image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build.</a:t>
            </a:r>
            <a:endParaRPr sz="950">
              <a:latin typeface="Arial"/>
              <a:cs typeface="Arial"/>
            </a:endParaRPr>
          </a:p>
          <a:p>
            <a:pPr marL="12700" marR="96520">
              <a:lnSpc>
                <a:spcPct val="124000"/>
              </a:lnSpc>
              <a:spcBef>
                <a:spcPts val="450"/>
              </a:spcBef>
            </a:pPr>
            <a:r>
              <a:rPr dirty="0" sz="950" b="1">
                <a:solidFill>
                  <a:srgbClr val="666666"/>
                </a:solidFill>
                <a:latin typeface="Arial"/>
                <a:cs typeface="Arial"/>
              </a:rPr>
              <a:t>Solution:</a:t>
            </a:r>
            <a:r>
              <a:rPr dirty="0" sz="950" spc="-20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Restarted</a:t>
            </a:r>
            <a:r>
              <a:rPr dirty="0" sz="95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Docker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Desktop</a:t>
            </a:r>
            <a:r>
              <a:rPr dirty="0" sz="95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666666"/>
                </a:solidFill>
                <a:latin typeface="Arial"/>
                <a:cs typeface="Arial"/>
              </a:rPr>
              <a:t>and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verified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Docker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Engine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status.</a:t>
            </a:r>
            <a:endParaRPr sz="9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24961" y="1271066"/>
            <a:ext cx="2694012" cy="1661223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711356" y="1342555"/>
            <a:ext cx="29235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11145" algn="l"/>
              </a:tabLst>
            </a:pPr>
            <a:r>
              <a:rPr dirty="0" sz="1400" spc="-50">
                <a:latin typeface="Arial"/>
                <a:cs typeface="Arial"/>
              </a:rPr>
              <a:t>1</a:t>
            </a:r>
            <a:r>
              <a:rPr dirty="0" sz="1400">
                <a:latin typeface="Arial"/>
                <a:cs typeface="Arial"/>
              </a:rPr>
              <a:t>	</a:t>
            </a:r>
            <a:r>
              <a:rPr dirty="0" sz="1400" spc="-5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348354" y="1644713"/>
            <a:ext cx="2405380" cy="111506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150">
                <a:solidFill>
                  <a:srgbClr val="666666"/>
                </a:solidFill>
                <a:latin typeface="Arial"/>
                <a:cs typeface="Arial"/>
              </a:rPr>
              <a:t>Prometheus</a:t>
            </a:r>
            <a:r>
              <a:rPr dirty="0" sz="115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66666"/>
                </a:solidFill>
                <a:latin typeface="Arial"/>
                <a:cs typeface="Arial"/>
              </a:rPr>
              <a:t>Image</a:t>
            </a:r>
            <a:r>
              <a:rPr dirty="0" sz="115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66666"/>
                </a:solidFill>
                <a:latin typeface="Arial"/>
                <a:cs typeface="Arial"/>
              </a:rPr>
              <a:t>Pull</a:t>
            </a:r>
            <a:r>
              <a:rPr dirty="0" sz="115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666666"/>
                </a:solidFill>
                <a:latin typeface="Arial"/>
                <a:cs typeface="Arial"/>
              </a:rPr>
              <a:t>Failures</a:t>
            </a:r>
            <a:endParaRPr sz="1150">
              <a:latin typeface="Arial"/>
              <a:cs typeface="Arial"/>
            </a:endParaRPr>
          </a:p>
          <a:p>
            <a:pPr marL="12700" marR="358775">
              <a:lnSpc>
                <a:spcPct val="124000"/>
              </a:lnSpc>
              <a:spcBef>
                <a:spcPts val="345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Prometheus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image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pull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failures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due</a:t>
            </a:r>
            <a:r>
              <a:rPr dirty="0" sz="95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666666"/>
                </a:solidFill>
                <a:latin typeface="Arial"/>
                <a:cs typeface="Arial"/>
              </a:rPr>
              <a:t>to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network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interruption.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24000"/>
              </a:lnSpc>
              <a:spcBef>
                <a:spcPts val="450"/>
              </a:spcBef>
            </a:pPr>
            <a:r>
              <a:rPr dirty="0" sz="950" b="1">
                <a:solidFill>
                  <a:srgbClr val="666666"/>
                </a:solidFill>
                <a:latin typeface="Arial"/>
                <a:cs typeface="Arial"/>
              </a:rPr>
              <a:t>Solution:</a:t>
            </a:r>
            <a:r>
              <a:rPr dirty="0" sz="950" spc="-20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Restored</a:t>
            </a:r>
            <a:r>
              <a:rPr dirty="0" sz="95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internet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connectivity</a:t>
            </a:r>
            <a:r>
              <a:rPr dirty="0" sz="95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666666"/>
                </a:solidFill>
                <a:latin typeface="Arial"/>
                <a:cs typeface="Arial"/>
              </a:rPr>
              <a:t>and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restarted</a:t>
            </a:r>
            <a:r>
              <a:rPr dirty="0" sz="950" spc="-4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affected</a:t>
            </a:r>
            <a:r>
              <a:rPr dirty="0" sz="95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pods.</a:t>
            </a:r>
            <a:endParaRPr sz="9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23597" y="1271066"/>
            <a:ext cx="2694012" cy="1661223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7308640" y="1342555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147003" y="1644713"/>
            <a:ext cx="2338705" cy="93535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150">
                <a:solidFill>
                  <a:srgbClr val="666666"/>
                </a:solidFill>
                <a:latin typeface="Arial"/>
                <a:cs typeface="Arial"/>
              </a:rPr>
              <a:t>ELK</a:t>
            </a:r>
            <a:r>
              <a:rPr dirty="0" sz="11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66666"/>
                </a:solidFill>
                <a:latin typeface="Arial"/>
                <a:cs typeface="Arial"/>
              </a:rPr>
              <a:t>Stack</a:t>
            </a:r>
            <a:r>
              <a:rPr dirty="0" sz="115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66666"/>
                </a:solidFill>
                <a:latin typeface="Arial"/>
                <a:cs typeface="Arial"/>
              </a:rPr>
              <a:t>Port</a:t>
            </a:r>
            <a:r>
              <a:rPr dirty="0" sz="115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666666"/>
                </a:solidFill>
                <a:latin typeface="Arial"/>
                <a:cs typeface="Arial"/>
              </a:rPr>
              <a:t>Conflicts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Port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conflicts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while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running</a:t>
            </a:r>
            <a:r>
              <a:rPr dirty="0" sz="95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ELK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stack.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24000"/>
              </a:lnSpc>
              <a:spcBef>
                <a:spcPts val="450"/>
              </a:spcBef>
            </a:pPr>
            <a:r>
              <a:rPr dirty="0" sz="950" b="1">
                <a:solidFill>
                  <a:srgbClr val="666666"/>
                </a:solidFill>
                <a:latin typeface="Arial"/>
                <a:cs typeface="Arial"/>
              </a:rPr>
              <a:t>Solution:</a:t>
            </a:r>
            <a:r>
              <a:rPr dirty="0" sz="950" spc="-20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Identified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existing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containers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666666"/>
                </a:solidFill>
                <a:latin typeface="Arial"/>
                <a:cs typeface="Arial"/>
              </a:rPr>
              <a:t>and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resolved</a:t>
            </a:r>
            <a:r>
              <a:rPr dirty="0" sz="95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port</a:t>
            </a:r>
            <a:r>
              <a:rPr dirty="0" sz="95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allocation</a:t>
            </a:r>
            <a:r>
              <a:rPr dirty="0" sz="95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conflicts.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3692" y="3138843"/>
            <a:ext cx="95948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E6EF3"/>
                </a:solidFill>
                <a:latin typeface="Arial"/>
                <a:cs typeface="Arial"/>
              </a:rPr>
              <a:t>Key </a:t>
            </a:r>
            <a:r>
              <a:rPr dirty="0" sz="1150" spc="-10">
                <a:solidFill>
                  <a:srgbClr val="3E6EF3"/>
                </a:solidFill>
                <a:latin typeface="Arial"/>
                <a:cs typeface="Arial"/>
              </a:rPr>
              <a:t>Learnings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13692" y="3399612"/>
            <a:ext cx="2286000" cy="110299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70"/>
              </a:spcBef>
              <a:buChar char="•"/>
              <a:tabLst>
                <a:tab pos="354965" algn="l"/>
              </a:tabLst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Docker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Containerization</a:t>
            </a:r>
            <a:endParaRPr sz="9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75"/>
              </a:spcBef>
              <a:buChar char="•"/>
              <a:tabLst>
                <a:tab pos="354965" algn="l"/>
              </a:tabLst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Kubernetes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Deployment</a:t>
            </a:r>
            <a:r>
              <a:rPr dirty="0" sz="95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&amp;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Scaling</a:t>
            </a:r>
            <a:endParaRPr sz="9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75"/>
              </a:spcBef>
              <a:buChar char="•"/>
              <a:tabLst>
                <a:tab pos="354965" algn="l"/>
              </a:tabLst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Helm</a:t>
            </a:r>
            <a:r>
              <a:rPr dirty="0" sz="95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Package</a:t>
            </a:r>
            <a:r>
              <a:rPr dirty="0" sz="95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Management</a:t>
            </a:r>
            <a:endParaRPr sz="9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75"/>
              </a:spcBef>
              <a:buChar char="•"/>
              <a:tabLst>
                <a:tab pos="354965" algn="l"/>
              </a:tabLst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Monitoring</a:t>
            </a:r>
            <a:r>
              <a:rPr dirty="0" sz="95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&amp;</a:t>
            </a:r>
            <a:r>
              <a:rPr dirty="0" sz="95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Logging</a:t>
            </a:r>
            <a:endParaRPr sz="9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70"/>
              </a:spcBef>
              <a:buChar char="•"/>
              <a:tabLst>
                <a:tab pos="354965" algn="l"/>
              </a:tabLst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Terraform</a:t>
            </a:r>
            <a:r>
              <a:rPr dirty="0" sz="95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Infrastructure</a:t>
            </a:r>
            <a:r>
              <a:rPr dirty="0" sz="95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Automation</a:t>
            </a:r>
            <a:endParaRPr sz="9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75"/>
              </a:spcBef>
              <a:buChar char="•"/>
              <a:tabLst>
                <a:tab pos="354965" algn="l"/>
              </a:tabLst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CI/CD</a:t>
            </a:r>
            <a:r>
              <a:rPr dirty="0" sz="95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Best</a:t>
            </a:r>
            <a:r>
              <a:rPr dirty="0" sz="95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Practices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4637633" y="3050006"/>
            <a:ext cx="4172585" cy="1706880"/>
          </a:xfrm>
          <a:custGeom>
            <a:avLst/>
            <a:gdLst/>
            <a:ahLst/>
            <a:cxnLst/>
            <a:rect l="l" t="t" r="r" b="b"/>
            <a:pathLst>
              <a:path w="4172584" h="1706879">
                <a:moveTo>
                  <a:pt x="3997032" y="0"/>
                </a:moveTo>
                <a:lnTo>
                  <a:pt x="175441" y="0"/>
                </a:lnTo>
                <a:lnTo>
                  <a:pt x="129027" y="6312"/>
                </a:lnTo>
                <a:lnTo>
                  <a:pt x="87181" y="24097"/>
                </a:lnTo>
                <a:lnTo>
                  <a:pt x="51629" y="51628"/>
                </a:lnTo>
                <a:lnTo>
                  <a:pt x="24097" y="87180"/>
                </a:lnTo>
                <a:lnTo>
                  <a:pt x="6312" y="129025"/>
                </a:lnTo>
                <a:lnTo>
                  <a:pt x="0" y="175437"/>
                </a:lnTo>
                <a:lnTo>
                  <a:pt x="0" y="1531023"/>
                </a:lnTo>
                <a:lnTo>
                  <a:pt x="6312" y="1577435"/>
                </a:lnTo>
                <a:lnTo>
                  <a:pt x="24097" y="1619280"/>
                </a:lnTo>
                <a:lnTo>
                  <a:pt x="51629" y="1654832"/>
                </a:lnTo>
                <a:lnTo>
                  <a:pt x="87181" y="1682363"/>
                </a:lnTo>
                <a:lnTo>
                  <a:pt x="129027" y="1700148"/>
                </a:lnTo>
                <a:lnTo>
                  <a:pt x="175441" y="1706460"/>
                </a:lnTo>
                <a:lnTo>
                  <a:pt x="3997032" y="1706460"/>
                </a:lnTo>
                <a:lnTo>
                  <a:pt x="4043445" y="1700148"/>
                </a:lnTo>
                <a:lnTo>
                  <a:pt x="4085290" y="1682363"/>
                </a:lnTo>
                <a:lnTo>
                  <a:pt x="4120842" y="1654832"/>
                </a:lnTo>
                <a:lnTo>
                  <a:pt x="4148373" y="1619280"/>
                </a:lnTo>
                <a:lnTo>
                  <a:pt x="4166158" y="1577435"/>
                </a:lnTo>
                <a:lnTo>
                  <a:pt x="4172470" y="1531023"/>
                </a:lnTo>
                <a:lnTo>
                  <a:pt x="4172470" y="175437"/>
                </a:lnTo>
                <a:lnTo>
                  <a:pt x="4166158" y="129025"/>
                </a:lnTo>
                <a:lnTo>
                  <a:pt x="4148373" y="87180"/>
                </a:lnTo>
                <a:lnTo>
                  <a:pt x="4120842" y="51628"/>
                </a:lnTo>
                <a:lnTo>
                  <a:pt x="4085290" y="24097"/>
                </a:lnTo>
                <a:lnTo>
                  <a:pt x="4043445" y="6312"/>
                </a:lnTo>
                <a:lnTo>
                  <a:pt x="3997032" y="0"/>
                </a:lnTo>
                <a:close/>
              </a:path>
            </a:pathLst>
          </a:custGeom>
          <a:solidFill>
            <a:srgbClr val="A1B8F8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746752" y="3138843"/>
            <a:ext cx="3759835" cy="824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latin typeface="Arial"/>
                <a:cs typeface="Arial"/>
              </a:rPr>
              <a:t>Conclusion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24000"/>
              </a:lnSpc>
              <a:spcBef>
                <a:spcPts val="670"/>
              </a:spcBef>
            </a:pPr>
            <a:r>
              <a:rPr dirty="0" sz="950">
                <a:latin typeface="Arial"/>
                <a:cs typeface="Arial"/>
              </a:rPr>
              <a:t>Successfully</a:t>
            </a:r>
            <a:r>
              <a:rPr dirty="0" sz="950" spc="-1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implemented</a:t>
            </a:r>
            <a:r>
              <a:rPr dirty="0" sz="950" spc="-1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an</a:t>
            </a:r>
            <a:r>
              <a:rPr dirty="0" sz="950" spc="-15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end-to-</a:t>
            </a:r>
            <a:r>
              <a:rPr dirty="0" sz="950">
                <a:latin typeface="Arial"/>
                <a:cs typeface="Arial"/>
              </a:rPr>
              <a:t>end</a:t>
            </a:r>
            <a:r>
              <a:rPr dirty="0" sz="950" spc="-1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DevOps</a:t>
            </a:r>
            <a:r>
              <a:rPr dirty="0" sz="950" spc="-1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project</a:t>
            </a:r>
            <a:r>
              <a:rPr dirty="0" sz="950" spc="-1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covering</a:t>
            </a:r>
            <a:r>
              <a:rPr dirty="0" sz="950" spc="-10">
                <a:latin typeface="Arial"/>
                <a:cs typeface="Arial"/>
              </a:rPr>
              <a:t> </a:t>
            </a:r>
            <a:r>
              <a:rPr dirty="0" sz="950" spc="-25">
                <a:latin typeface="Arial"/>
                <a:cs typeface="Arial"/>
              </a:rPr>
              <a:t>the </a:t>
            </a:r>
            <a:r>
              <a:rPr dirty="0" sz="950">
                <a:latin typeface="Arial"/>
                <a:cs typeface="Arial"/>
              </a:rPr>
              <a:t>complete</a:t>
            </a:r>
            <a:r>
              <a:rPr dirty="0" sz="950" spc="-2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software</a:t>
            </a:r>
            <a:r>
              <a:rPr dirty="0" sz="950" spc="-1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delivery</a:t>
            </a:r>
            <a:r>
              <a:rPr dirty="0" sz="950" spc="-20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lifecycle</a:t>
            </a:r>
            <a:r>
              <a:rPr dirty="0" sz="950" spc="-1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using</a:t>
            </a:r>
            <a:r>
              <a:rPr dirty="0" sz="950" spc="-20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industry-</a:t>
            </a:r>
            <a:r>
              <a:rPr dirty="0" sz="950">
                <a:latin typeface="Arial"/>
                <a:cs typeface="Arial"/>
              </a:rPr>
              <a:t>standard</a:t>
            </a:r>
            <a:r>
              <a:rPr dirty="0" sz="950" spc="-1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tools</a:t>
            </a:r>
            <a:r>
              <a:rPr dirty="0" sz="950" spc="-15">
                <a:latin typeface="Arial"/>
                <a:cs typeface="Arial"/>
              </a:rPr>
              <a:t> </a:t>
            </a:r>
            <a:r>
              <a:rPr dirty="0" sz="950" spc="-25">
                <a:latin typeface="Arial"/>
                <a:cs typeface="Arial"/>
              </a:rPr>
              <a:t>and </a:t>
            </a:r>
            <a:r>
              <a:rPr dirty="0" sz="950" spc="-10">
                <a:latin typeface="Arial"/>
                <a:cs typeface="Arial"/>
              </a:rPr>
              <a:t>practices.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2026-06-06T05:16:40Z</dcterms:created>
  <dcterms:modified xsi:type="dcterms:W3CDTF">2026-06-06T05:16:40Z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2026-06-06T00:00:00Z</vt:filetime>
  </property>
  <property fmtid="{D5CDD505-2E9C-101B-9397-08002B2CF9AE}" pid="3" name="LastSaved">
    <vt:filetime>2026-06-06T00:00:00Z</vt:filetime>
  </property>
  <property fmtid="{D5CDD505-2E9C-101B-9397-08002B2CF9AE}" pid="4" name="Producer">
    <vt:lpwstr>3-Heights(TM) PDF Security Shell 4.8.25.2 (http://www.pdf-tools.com)</vt:lpwstr>
  </property>
</Properties>
</file>